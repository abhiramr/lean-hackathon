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2" d="100"/>
          <a:sy n="152" d="100"/>
        </p:scale>
        <p:origin x="608"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548640"/>
            <a:ext cx="11430000" cy="4206240"/>
          </a:xfrm>
          <a:prstGeom prst="rect">
            <a:avLst/>
          </a:prstGeom>
          <a:solidFill>
            <a:srgbClr val="161B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731520"/>
            <a:ext cx="10972800" cy="1097280"/>
          </a:xfrm>
          <a:prstGeom prst="rect">
            <a:avLst/>
          </a:prstGeom>
          <a:noFill/>
        </p:spPr>
        <p:txBody>
          <a:bodyPr wrap="square">
            <a:spAutoFit/>
          </a:bodyPr>
          <a:lstStyle/>
          <a:p>
            <a:pPr algn="ctr"/>
            <a:r>
              <a:rPr sz="5600" b="1" i="0">
                <a:solidFill>
                  <a:srgbClr val="3B82F6"/>
                </a:solidFill>
              </a:rPr>
              <a:t>LeanMowers</a:t>
            </a:r>
          </a:p>
        </p:txBody>
      </p:sp>
      <p:sp>
        <p:nvSpPr>
          <p:cNvPr id="5" name="TextBox 4"/>
          <p:cNvSpPr txBox="1"/>
          <p:nvPr/>
        </p:nvSpPr>
        <p:spPr>
          <a:xfrm>
            <a:off x="640080" y="1691640"/>
            <a:ext cx="10972800" cy="731520"/>
          </a:xfrm>
          <a:prstGeom prst="rect">
            <a:avLst/>
          </a:prstGeom>
          <a:noFill/>
        </p:spPr>
        <p:txBody>
          <a:bodyPr wrap="square">
            <a:spAutoFit/>
          </a:bodyPr>
          <a:lstStyle/>
          <a:p>
            <a:pPr algn="ctr"/>
            <a:r>
              <a:rPr sz="2400" b="0" i="0">
                <a:solidFill>
                  <a:srgbClr val="FFFFFF"/>
                </a:solidFill>
              </a:rPr>
              <a:t>Formally Verified Exploratory Data Analysis</a:t>
            </a:r>
          </a:p>
        </p:txBody>
      </p:sp>
      <p:sp>
        <p:nvSpPr>
          <p:cNvPr id="6" name="TextBox 5"/>
          <p:cNvSpPr txBox="1"/>
          <p:nvPr/>
        </p:nvSpPr>
        <p:spPr>
          <a:xfrm>
            <a:off x="640080" y="2331720"/>
            <a:ext cx="10972800" cy="640080"/>
          </a:xfrm>
          <a:prstGeom prst="rect">
            <a:avLst/>
          </a:prstGeom>
          <a:noFill/>
        </p:spPr>
        <p:txBody>
          <a:bodyPr wrap="square">
            <a:spAutoFit/>
          </a:bodyPr>
          <a:lstStyle/>
          <a:p>
            <a:pPr algn="ctr"/>
            <a:r>
              <a:rPr sz="2000" b="1" i="0">
                <a:solidFill>
                  <a:srgbClr val="06B6D4"/>
                </a:solidFill>
              </a:rPr>
              <a:t>Python  ×  Lean 4  ×  Agentic AI</a:t>
            </a:r>
          </a:p>
        </p:txBody>
      </p:sp>
      <p:sp>
        <p:nvSpPr>
          <p:cNvPr id="7" name="TextBox 6"/>
          <p:cNvSpPr txBox="1"/>
          <p:nvPr/>
        </p:nvSpPr>
        <p:spPr>
          <a:xfrm>
            <a:off x="914400" y="3017520"/>
            <a:ext cx="10332720" cy="502920"/>
          </a:xfrm>
          <a:prstGeom prst="rect">
            <a:avLst/>
          </a:prstGeom>
          <a:noFill/>
        </p:spPr>
        <p:txBody>
          <a:bodyPr wrap="square">
            <a:spAutoFit/>
          </a:bodyPr>
          <a:lstStyle/>
          <a:p>
            <a:pPr algn="ctr"/>
            <a:r>
              <a:rPr sz="1400" b="0" i="1">
                <a:solidFill>
                  <a:srgbClr val="CBD5E1"/>
                </a:solidFill>
              </a:rPr>
              <a:t>Every statistical result ships with a machine-checked mathematical proof.</a:t>
            </a:r>
          </a:p>
        </p:txBody>
      </p:sp>
      <p:sp>
        <p:nvSpPr>
          <p:cNvPr id="8" name="TextBox 7"/>
          <p:cNvSpPr txBox="1"/>
          <p:nvPr/>
        </p:nvSpPr>
        <p:spPr>
          <a:xfrm>
            <a:off x="914400" y="3520440"/>
            <a:ext cx="10332720" cy="411480"/>
          </a:xfrm>
          <a:prstGeom prst="rect">
            <a:avLst/>
          </a:prstGeom>
          <a:noFill/>
        </p:spPr>
        <p:txBody>
          <a:bodyPr wrap="square">
            <a:spAutoFit/>
          </a:bodyPr>
          <a:lstStyle/>
          <a:p>
            <a:pPr algn="ctr"/>
            <a:r>
              <a:rPr sz="1300" b="0" i="0">
                <a:solidFill>
                  <a:srgbClr val="06B6D4"/>
                </a:solidFill>
              </a:rPr>
              <a:t>Abhishek Banerjee  ·  Abhiram Ramesh  ·  Bharath Dev</a:t>
            </a:r>
          </a:p>
        </p:txBody>
      </p:sp>
      <p:sp>
        <p:nvSpPr>
          <p:cNvPr id="9" name="Rectangle 8"/>
          <p:cNvSpPr/>
          <p:nvPr/>
        </p:nvSpPr>
        <p:spPr>
          <a:xfrm>
            <a:off x="914400" y="4572000"/>
            <a:ext cx="146304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572000"/>
            <a:ext cx="1463040" cy="347472"/>
          </a:xfrm>
          <a:prstGeom prst="rect">
            <a:avLst/>
          </a:prstGeom>
          <a:noFill/>
        </p:spPr>
        <p:txBody>
          <a:bodyPr wrap="square">
            <a:spAutoFit/>
          </a:bodyPr>
          <a:lstStyle/>
          <a:p>
            <a:pPr algn="ctr"/>
            <a:r>
              <a:rPr sz="1100" b="1" i="0">
                <a:solidFill>
                  <a:srgbClr val="FFFFFF"/>
                </a:solidFill>
              </a:rPr>
              <a:t>Python 3.11</a:t>
            </a:r>
          </a:p>
        </p:txBody>
      </p:sp>
      <p:sp>
        <p:nvSpPr>
          <p:cNvPr id="11" name="Rectangle 10"/>
          <p:cNvSpPr/>
          <p:nvPr/>
        </p:nvSpPr>
        <p:spPr>
          <a:xfrm>
            <a:off x="2514600" y="4572000"/>
            <a:ext cx="1463040" cy="347472"/>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4600" y="4572000"/>
            <a:ext cx="1463040" cy="347472"/>
          </a:xfrm>
          <a:prstGeom prst="rect">
            <a:avLst/>
          </a:prstGeom>
          <a:noFill/>
        </p:spPr>
        <p:txBody>
          <a:bodyPr wrap="square">
            <a:spAutoFit/>
          </a:bodyPr>
          <a:lstStyle/>
          <a:p>
            <a:pPr algn="ctr"/>
            <a:r>
              <a:rPr sz="1100" b="1" i="0">
                <a:solidFill>
                  <a:srgbClr val="FFFFFF"/>
                </a:solidFill>
              </a:rPr>
              <a:t>Lean 4</a:t>
            </a:r>
          </a:p>
        </p:txBody>
      </p:sp>
      <p:sp>
        <p:nvSpPr>
          <p:cNvPr id="13" name="Rectangle 12"/>
          <p:cNvSpPr/>
          <p:nvPr/>
        </p:nvSpPr>
        <p:spPr>
          <a:xfrm>
            <a:off x="4114800" y="4572000"/>
            <a:ext cx="1463040" cy="34747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0" y="4572000"/>
            <a:ext cx="1463040" cy="347472"/>
          </a:xfrm>
          <a:prstGeom prst="rect">
            <a:avLst/>
          </a:prstGeom>
          <a:noFill/>
        </p:spPr>
        <p:txBody>
          <a:bodyPr wrap="square">
            <a:spAutoFit/>
          </a:bodyPr>
          <a:lstStyle/>
          <a:p>
            <a:pPr algn="ctr"/>
            <a:r>
              <a:rPr sz="1100" b="1" i="0">
                <a:solidFill>
                  <a:srgbClr val="FFFFFF"/>
                </a:solidFill>
              </a:rPr>
              <a:t>Mathlib</a:t>
            </a:r>
          </a:p>
        </p:txBody>
      </p:sp>
      <p:sp>
        <p:nvSpPr>
          <p:cNvPr id="15" name="Rectangle 14"/>
          <p:cNvSpPr/>
          <p:nvPr/>
        </p:nvSpPr>
        <p:spPr>
          <a:xfrm>
            <a:off x="5715000" y="4572000"/>
            <a:ext cx="1463040"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15000" y="4572000"/>
            <a:ext cx="1463040" cy="347472"/>
          </a:xfrm>
          <a:prstGeom prst="rect">
            <a:avLst/>
          </a:prstGeom>
          <a:noFill/>
        </p:spPr>
        <p:txBody>
          <a:bodyPr wrap="square">
            <a:spAutoFit/>
          </a:bodyPr>
          <a:lstStyle/>
          <a:p>
            <a:pPr algn="ctr"/>
            <a:r>
              <a:rPr sz="1100" b="1" i="0">
                <a:solidFill>
                  <a:srgbClr val="FFFFFF"/>
                </a:solidFill>
              </a:rPr>
              <a:t>React + Vite</a:t>
            </a:r>
          </a:p>
        </p:txBody>
      </p:sp>
      <p:sp>
        <p:nvSpPr>
          <p:cNvPr id="17" name="Rectangle 16"/>
          <p:cNvSpPr/>
          <p:nvPr/>
        </p:nvSpPr>
        <p:spPr>
          <a:xfrm>
            <a:off x="7315200" y="4572000"/>
            <a:ext cx="146304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0" y="4572000"/>
            <a:ext cx="1463040" cy="347472"/>
          </a:xfrm>
          <a:prstGeom prst="rect">
            <a:avLst/>
          </a:prstGeom>
          <a:noFill/>
        </p:spPr>
        <p:txBody>
          <a:bodyPr wrap="square">
            <a:spAutoFit/>
          </a:bodyPr>
          <a:lstStyle/>
          <a:p>
            <a:pPr algn="ctr"/>
            <a:r>
              <a:rPr sz="1100" b="1" i="0">
                <a:solidFill>
                  <a:srgbClr val="FFFFFF"/>
                </a:solidFill>
              </a:rPr>
              <a:t>FastAPI</a:t>
            </a:r>
          </a:p>
        </p:txBody>
      </p:sp>
      <p:sp>
        <p:nvSpPr>
          <p:cNvPr id="19" name="Rectangle 18"/>
          <p:cNvSpPr/>
          <p:nvPr/>
        </p:nvSpPr>
        <p:spPr>
          <a:xfrm>
            <a:off x="8915400" y="4572000"/>
            <a:ext cx="1463040" cy="34747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15400" y="4572000"/>
            <a:ext cx="1463040" cy="347472"/>
          </a:xfrm>
          <a:prstGeom prst="rect">
            <a:avLst/>
          </a:prstGeom>
          <a:noFill/>
        </p:spPr>
        <p:txBody>
          <a:bodyPr wrap="square">
            <a:spAutoFit/>
          </a:bodyPr>
          <a:lstStyle/>
          <a:p>
            <a:pPr algn="ctr"/>
            <a:r>
              <a:rPr sz="1100" b="1" i="0">
                <a:solidFill>
                  <a:srgbClr val="FFFFFF"/>
                </a:solidFill>
              </a:rPr>
              <a:t>Groq LLM</a:t>
            </a:r>
          </a:p>
        </p:txBody>
      </p:sp>
      <p:sp>
        <p:nvSpPr>
          <p:cNvPr id="21" name="TextBox 20"/>
          <p:cNvSpPr txBox="1"/>
          <p:nvPr/>
        </p:nvSpPr>
        <p:spPr>
          <a:xfrm>
            <a:off x="0" y="6126480"/>
            <a:ext cx="12188952" cy="457200"/>
          </a:xfrm>
          <a:prstGeom prst="rect">
            <a:avLst/>
          </a:prstGeom>
          <a:noFill/>
        </p:spPr>
        <p:txBody>
          <a:bodyPr wrap="square">
            <a:spAutoFit/>
          </a:bodyPr>
          <a:lstStyle/>
          <a:p>
            <a:pPr algn="ctr"/>
            <a:r>
              <a:rPr sz="1100" b="0" i="0">
                <a:solidFill>
                  <a:srgbClr val="64748B"/>
                </a:solidFill>
              </a:rPr>
              <a:t>Hackathon April 2026  •  Team LeanMowers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566928"/>
          </a:xfrm>
          <a:prstGeom prst="rect">
            <a:avLst/>
          </a:prstGeom>
          <a:noFill/>
        </p:spPr>
        <p:txBody>
          <a:bodyPr wrap="square">
            <a:spAutoFit/>
          </a:bodyPr>
          <a:lstStyle/>
          <a:p>
            <a:pPr algn="l"/>
            <a:r>
              <a:rPr sz="3400" b="1" i="0">
                <a:solidFill>
                  <a:srgbClr val="FFFFFF"/>
                </a:solidFill>
              </a:rPr>
              <a:t>Abstract</a:t>
            </a:r>
          </a:p>
        </p:txBody>
      </p:sp>
      <p:sp>
        <p:nvSpPr>
          <p:cNvPr id="4" name="TextBox 3"/>
          <p:cNvSpPr txBox="1"/>
          <p:nvPr/>
        </p:nvSpPr>
        <p:spPr>
          <a:xfrm>
            <a:off x="457200" y="713232"/>
            <a:ext cx="10972800" cy="411480"/>
          </a:xfrm>
          <a:prstGeom prst="rect">
            <a:avLst/>
          </a:prstGeom>
          <a:noFill/>
        </p:spPr>
        <p:txBody>
          <a:bodyPr wrap="square">
            <a:spAutoFit/>
          </a:bodyPr>
          <a:lstStyle/>
          <a:p>
            <a:pPr algn="l"/>
            <a:r>
              <a:rPr sz="1700" b="0" i="0">
                <a:solidFill>
                  <a:srgbClr val="06B6D4"/>
                </a:solidFill>
              </a:rPr>
              <a:t>Verified EDA: Formally Verified Exploratory Data Analysis</a:t>
            </a:r>
          </a:p>
        </p:txBody>
      </p:sp>
      <p:sp>
        <p:nvSpPr>
          <p:cNvPr id="5" name="Rectangle 4"/>
          <p:cNvSpPr/>
          <p:nvPr/>
        </p:nvSpPr>
        <p:spPr>
          <a:xfrm>
            <a:off x="320040" y="1234440"/>
            <a:ext cx="11521440" cy="2240280"/>
          </a:xfrm>
          <a:prstGeom prst="rect">
            <a:avLst/>
          </a:prstGeom>
          <a:solidFill>
            <a:srgbClr val="161B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325880"/>
            <a:ext cx="11155680" cy="2103120"/>
          </a:xfrm>
          <a:prstGeom prst="rect">
            <a:avLst/>
          </a:prstGeom>
          <a:noFill/>
        </p:spPr>
        <p:txBody>
          <a:bodyPr wrap="square">
            <a:spAutoFit/>
          </a:bodyPr>
          <a:lstStyle/>
          <a:p>
            <a:pPr algn="l"/>
            <a:r>
              <a:rPr sz="1200" b="0" i="0">
                <a:solidFill>
                  <a:srgbClr val="CBD5E1"/>
                </a:solidFill>
              </a:rPr>
              <a:t>Verified EDA eliminates the fundamental "Trust Gap" in Exploratory Data Analysis (EDA) by introducing formal mathematical verification. Traditional EDA workflows using Python libraries like Pandas and NumPy offer no mathematical guarantee of correctness — a critical risk in regulated industries.
This project bridges that gap by mirroring every Python EDA operation in Lean 4, a dependently-typed proof assistant, to formally prove theorems that certify the correctness of each analytical step. The final output provides stakeholders with a machine-checkable proof confirming the analytical correctness, transitioning trust from the analyst to the verifiable output.</a:t>
            </a:r>
          </a:p>
        </p:txBody>
      </p:sp>
      <p:sp>
        <p:nvSpPr>
          <p:cNvPr id="7" name="TextBox 6"/>
          <p:cNvSpPr txBox="1"/>
          <p:nvPr/>
        </p:nvSpPr>
        <p:spPr>
          <a:xfrm>
            <a:off x="457200" y="3611880"/>
            <a:ext cx="10972800" cy="411480"/>
          </a:xfrm>
          <a:prstGeom prst="rect">
            <a:avLst/>
          </a:prstGeom>
          <a:noFill/>
        </p:spPr>
        <p:txBody>
          <a:bodyPr wrap="square">
            <a:spAutoFit/>
          </a:bodyPr>
          <a:lstStyle/>
          <a:p>
            <a:pPr algn="l"/>
            <a:r>
              <a:rPr sz="1500" b="1" i="0">
                <a:solidFill>
                  <a:srgbClr val="FFFFFF"/>
                </a:solidFill>
              </a:rPr>
              <a:t>System Architecture  —  Three-Layer Design</a:t>
            </a:r>
          </a:p>
        </p:txBody>
      </p:sp>
      <p:sp>
        <p:nvSpPr>
          <p:cNvPr id="8" name="Rectangle 7"/>
          <p:cNvSpPr/>
          <p:nvPr/>
        </p:nvSpPr>
        <p:spPr>
          <a:xfrm>
            <a:off x="274320" y="4114800"/>
            <a:ext cx="3749039" cy="2514600"/>
          </a:xfrm>
          <a:prstGeom prst="rect">
            <a:avLst/>
          </a:prstGeom>
          <a:solidFill>
            <a:srgbClr val="161B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4114800"/>
            <a:ext cx="3749039" cy="685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4151376"/>
            <a:ext cx="3749039" cy="384048"/>
          </a:xfrm>
          <a:prstGeom prst="rect">
            <a:avLst/>
          </a:prstGeom>
          <a:noFill/>
        </p:spPr>
        <p:txBody>
          <a:bodyPr wrap="square">
            <a:spAutoFit/>
          </a:bodyPr>
          <a:lstStyle/>
          <a:p>
            <a:pPr algn="ctr"/>
            <a:r>
              <a:rPr sz="1300" b="1" i="0">
                <a:solidFill>
                  <a:srgbClr val="FFFFFF"/>
                </a:solidFill>
              </a:rPr>
              <a:t>Computation</a:t>
            </a:r>
          </a:p>
        </p:txBody>
      </p:sp>
      <p:sp>
        <p:nvSpPr>
          <p:cNvPr id="11" name="TextBox 10"/>
          <p:cNvSpPr txBox="1"/>
          <p:nvPr/>
        </p:nvSpPr>
        <p:spPr>
          <a:xfrm>
            <a:off x="274320" y="4526280"/>
            <a:ext cx="3749039" cy="292608"/>
          </a:xfrm>
          <a:prstGeom prst="rect">
            <a:avLst/>
          </a:prstGeom>
          <a:noFill/>
        </p:spPr>
        <p:txBody>
          <a:bodyPr wrap="square">
            <a:spAutoFit/>
          </a:bodyPr>
          <a:lstStyle/>
          <a:p>
            <a:pPr algn="ctr"/>
            <a:r>
              <a:rPr sz="900" b="0" i="1">
                <a:solidFill>
                  <a:srgbClr val="0D1117"/>
                </a:solidFill>
              </a:rPr>
              <a:t>Python  (Pandas · NumPy)</a:t>
            </a:r>
          </a:p>
        </p:txBody>
      </p:sp>
      <p:sp>
        <p:nvSpPr>
          <p:cNvPr id="12" name="TextBox 11"/>
          <p:cNvSpPr txBox="1"/>
          <p:nvPr/>
        </p:nvSpPr>
        <p:spPr>
          <a:xfrm>
            <a:off x="411480" y="4892040"/>
            <a:ext cx="3474720" cy="1645920"/>
          </a:xfrm>
          <a:prstGeom prst="rect">
            <a:avLst/>
          </a:prstGeom>
          <a:noFill/>
        </p:spPr>
        <p:txBody>
          <a:bodyPr wrap="square">
            <a:spAutoFit/>
          </a:bodyPr>
          <a:lstStyle/>
          <a:p>
            <a:pPr algn="l"/>
            <a:r>
              <a:rPr sz="1000" b="0" i="0">
                <a:solidFill>
                  <a:srgbClr val="CBD5E1"/>
                </a:solidFill>
              </a:rPr>
              <a:t>Executes EDA operations: mean, variance, std, median, correlation, histogram</a:t>
            </a:r>
          </a:p>
        </p:txBody>
      </p:sp>
      <p:sp>
        <p:nvSpPr>
          <p:cNvPr id="13" name="Rectangle 12"/>
          <p:cNvSpPr/>
          <p:nvPr/>
        </p:nvSpPr>
        <p:spPr>
          <a:xfrm>
            <a:off x="4251959" y="4114800"/>
            <a:ext cx="3749039" cy="2514600"/>
          </a:xfrm>
          <a:prstGeom prst="rect">
            <a:avLst/>
          </a:prstGeom>
          <a:solidFill>
            <a:srgbClr val="161B27"/>
          </a:solidFill>
          <a:ln w="1905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51959" y="4114800"/>
            <a:ext cx="3749039" cy="68580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4151376"/>
            <a:ext cx="3749039" cy="384048"/>
          </a:xfrm>
          <a:prstGeom prst="rect">
            <a:avLst/>
          </a:prstGeom>
          <a:noFill/>
        </p:spPr>
        <p:txBody>
          <a:bodyPr wrap="square">
            <a:spAutoFit/>
          </a:bodyPr>
          <a:lstStyle/>
          <a:p>
            <a:pPr algn="ctr"/>
            <a:r>
              <a:rPr sz="1300" b="1" i="0">
                <a:solidFill>
                  <a:srgbClr val="FFFFFF"/>
                </a:solidFill>
              </a:rPr>
              <a:t>Specification /
Verification</a:t>
            </a:r>
          </a:p>
        </p:txBody>
      </p:sp>
      <p:sp>
        <p:nvSpPr>
          <p:cNvPr id="16" name="TextBox 15"/>
          <p:cNvSpPr txBox="1"/>
          <p:nvPr/>
        </p:nvSpPr>
        <p:spPr>
          <a:xfrm>
            <a:off x="4251959" y="4526280"/>
            <a:ext cx="3749039" cy="292608"/>
          </a:xfrm>
          <a:prstGeom prst="rect">
            <a:avLst/>
          </a:prstGeom>
          <a:noFill/>
        </p:spPr>
        <p:txBody>
          <a:bodyPr wrap="square">
            <a:spAutoFit/>
          </a:bodyPr>
          <a:lstStyle/>
          <a:p>
            <a:pPr algn="ctr"/>
            <a:r>
              <a:rPr sz="900" b="0" i="1">
                <a:solidFill>
                  <a:srgbClr val="0D1117"/>
                </a:solidFill>
              </a:rPr>
              <a:t>Lean 4  (Mathlib)</a:t>
            </a:r>
          </a:p>
        </p:txBody>
      </p:sp>
      <p:sp>
        <p:nvSpPr>
          <p:cNvPr id="17" name="TextBox 16"/>
          <p:cNvSpPr txBox="1"/>
          <p:nvPr/>
        </p:nvSpPr>
        <p:spPr>
          <a:xfrm>
            <a:off x="4389119" y="4892040"/>
            <a:ext cx="3474720" cy="1645920"/>
          </a:xfrm>
          <a:prstGeom prst="rect">
            <a:avLst/>
          </a:prstGeom>
          <a:noFill/>
        </p:spPr>
        <p:txBody>
          <a:bodyPr wrap="square">
            <a:spAutoFit/>
          </a:bodyPr>
          <a:lstStyle/>
          <a:p>
            <a:pPr algn="l"/>
            <a:r>
              <a:rPr sz="1000" b="0" i="0">
                <a:solidFill>
                  <a:srgbClr val="CBD5E1"/>
                </a:solidFill>
              </a:rPr>
              <a:t>Defines formal specs and uses the Lean 4 Prover to verify that Python computations satisfy them — e.g., variance ≥ 0, correlation ∈ [-1, 1]</a:t>
            </a:r>
          </a:p>
        </p:txBody>
      </p:sp>
      <p:sp>
        <p:nvSpPr>
          <p:cNvPr id="18" name="Rectangle 17"/>
          <p:cNvSpPr/>
          <p:nvPr/>
        </p:nvSpPr>
        <p:spPr>
          <a:xfrm>
            <a:off x="8229600" y="4114800"/>
            <a:ext cx="3749039" cy="2514600"/>
          </a:xfrm>
          <a:prstGeom prst="rect">
            <a:avLst/>
          </a:prstGeom>
          <a:solidFill>
            <a:srgbClr val="161B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4114800"/>
            <a:ext cx="3749039" cy="685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4151376"/>
            <a:ext cx="3749039" cy="384048"/>
          </a:xfrm>
          <a:prstGeom prst="rect">
            <a:avLst/>
          </a:prstGeom>
          <a:noFill/>
        </p:spPr>
        <p:txBody>
          <a:bodyPr wrap="square">
            <a:spAutoFit/>
          </a:bodyPr>
          <a:lstStyle/>
          <a:p>
            <a:pPr algn="ctr"/>
            <a:r>
              <a:rPr sz="1300" b="1" i="0">
                <a:solidFill>
                  <a:srgbClr val="FFFFFF"/>
                </a:solidFill>
              </a:rPr>
              <a:t>Orchestration</a:t>
            </a:r>
          </a:p>
        </p:txBody>
      </p:sp>
      <p:sp>
        <p:nvSpPr>
          <p:cNvPr id="21" name="TextBox 20"/>
          <p:cNvSpPr txBox="1"/>
          <p:nvPr/>
        </p:nvSpPr>
        <p:spPr>
          <a:xfrm>
            <a:off x="8229600" y="4526280"/>
            <a:ext cx="3749039" cy="292608"/>
          </a:xfrm>
          <a:prstGeom prst="rect">
            <a:avLst/>
          </a:prstGeom>
          <a:noFill/>
        </p:spPr>
        <p:txBody>
          <a:bodyPr wrap="square">
            <a:spAutoFit/>
          </a:bodyPr>
          <a:lstStyle/>
          <a:p>
            <a:pPr algn="ctr"/>
            <a:r>
              <a:rPr sz="900" b="0" i="1">
                <a:solidFill>
                  <a:srgbClr val="0D1117"/>
                </a:solidFill>
              </a:rPr>
              <a:t>Agentic AI  (Claude · Azure OpenAI)</a:t>
            </a:r>
          </a:p>
        </p:txBody>
      </p:sp>
      <p:sp>
        <p:nvSpPr>
          <p:cNvPr id="22" name="TextBox 21"/>
          <p:cNvSpPr txBox="1"/>
          <p:nvPr/>
        </p:nvSpPr>
        <p:spPr>
          <a:xfrm>
            <a:off x="8366760" y="4892040"/>
            <a:ext cx="3474720" cy="1645920"/>
          </a:xfrm>
          <a:prstGeom prst="rect">
            <a:avLst/>
          </a:prstGeom>
          <a:noFill/>
        </p:spPr>
        <p:txBody>
          <a:bodyPr wrap="square">
            <a:spAutoFit/>
          </a:bodyPr>
          <a:lstStyle/>
          <a:p>
            <a:pPr algn="l"/>
            <a:r>
              <a:rPr sz="1000" b="0" i="0">
                <a:solidFill>
                  <a:srgbClr val="CBD5E1"/>
                </a:solidFill>
              </a:rPr>
              <a:t>Translates Python logic into Lean 4 specs, generates proof obligations, attempts automated proof construction, and produces machine-checked verification certificates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The Problem</a:t>
            </a:r>
          </a:p>
        </p:txBody>
      </p:sp>
      <p:sp>
        <p:nvSpPr>
          <p:cNvPr id="4" name="TextBox 3"/>
          <p:cNvSpPr txBox="1"/>
          <p:nvPr/>
        </p:nvSpPr>
        <p:spPr>
          <a:xfrm>
            <a:off x="457200" y="777240"/>
            <a:ext cx="10972800" cy="457200"/>
          </a:xfrm>
          <a:prstGeom prst="rect">
            <a:avLst/>
          </a:prstGeom>
          <a:noFill/>
        </p:spPr>
        <p:txBody>
          <a:bodyPr wrap="square">
            <a:spAutoFit/>
          </a:bodyPr>
          <a:lstStyle/>
          <a:p>
            <a:pPr algn="l"/>
            <a:r>
              <a:rPr sz="1800" b="0" i="0">
                <a:solidFill>
                  <a:srgbClr val="F59E0B"/>
                </a:solidFill>
              </a:rPr>
              <a:t>Data Analysis  →  Trust Gap</a:t>
            </a:r>
          </a:p>
        </p:txBody>
      </p:sp>
      <p:sp>
        <p:nvSpPr>
          <p:cNvPr id="5" name="Rectangle 4"/>
          <p:cNvSpPr/>
          <p:nvPr/>
        </p:nvSpPr>
        <p:spPr>
          <a:xfrm>
            <a:off x="365760" y="1371600"/>
            <a:ext cx="11338560" cy="960120"/>
          </a:xfrm>
          <a:prstGeom prst="rect">
            <a:avLst/>
          </a:prstGeom>
          <a:solidFill>
            <a:srgbClr val="161B27"/>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417320"/>
            <a:ext cx="3474720" cy="411480"/>
          </a:xfrm>
          <a:prstGeom prst="rect">
            <a:avLst/>
          </a:prstGeom>
          <a:noFill/>
        </p:spPr>
        <p:txBody>
          <a:bodyPr wrap="square">
            <a:spAutoFit/>
          </a:bodyPr>
          <a:lstStyle/>
          <a:p>
            <a:pPr algn="l"/>
            <a:r>
              <a:rPr sz="1300" b="1" i="0">
                <a:solidFill>
                  <a:srgbClr val="F59E0B"/>
                </a:solidFill>
              </a:rPr>
              <a:t>  ✗  Silent numeric bugs</a:t>
            </a:r>
          </a:p>
        </p:txBody>
      </p:sp>
      <p:sp>
        <p:nvSpPr>
          <p:cNvPr id="7" name="TextBox 6"/>
          <p:cNvSpPr txBox="1"/>
          <p:nvPr/>
        </p:nvSpPr>
        <p:spPr>
          <a:xfrm>
            <a:off x="3931920" y="1417320"/>
            <a:ext cx="7589520" cy="822960"/>
          </a:xfrm>
          <a:prstGeom prst="rect">
            <a:avLst/>
          </a:prstGeom>
          <a:noFill/>
        </p:spPr>
        <p:txBody>
          <a:bodyPr wrap="square">
            <a:spAutoFit/>
          </a:bodyPr>
          <a:lstStyle/>
          <a:p>
            <a:pPr algn="l"/>
            <a:r>
              <a:rPr sz="1200" b="0" i="0">
                <a:solidFill>
                  <a:srgbClr val="CBD5E1"/>
                </a:solidFill>
              </a:rPr>
              <a:t>Floating-point drift, off-by-one errors, wrong formulas go undetected</a:t>
            </a:r>
          </a:p>
        </p:txBody>
      </p:sp>
      <p:sp>
        <p:nvSpPr>
          <p:cNvPr id="8" name="Rectangle 7"/>
          <p:cNvSpPr/>
          <p:nvPr/>
        </p:nvSpPr>
        <p:spPr>
          <a:xfrm>
            <a:off x="365760" y="2468880"/>
            <a:ext cx="11338560" cy="960120"/>
          </a:xfrm>
          <a:prstGeom prst="rect">
            <a:avLst/>
          </a:prstGeom>
          <a:solidFill>
            <a:srgbClr val="161B27"/>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514600"/>
            <a:ext cx="3474720" cy="411480"/>
          </a:xfrm>
          <a:prstGeom prst="rect">
            <a:avLst/>
          </a:prstGeom>
          <a:noFill/>
        </p:spPr>
        <p:txBody>
          <a:bodyPr wrap="square">
            <a:spAutoFit/>
          </a:bodyPr>
          <a:lstStyle/>
          <a:p>
            <a:pPr algn="l"/>
            <a:r>
              <a:rPr sz="1300" b="1" i="0">
                <a:solidFill>
                  <a:srgbClr val="F59E0B"/>
                </a:solidFill>
              </a:rPr>
              <a:t>  ✗  No proof of correctness</a:t>
            </a:r>
          </a:p>
        </p:txBody>
      </p:sp>
      <p:sp>
        <p:nvSpPr>
          <p:cNvPr id="10" name="TextBox 9"/>
          <p:cNvSpPr txBox="1"/>
          <p:nvPr/>
        </p:nvSpPr>
        <p:spPr>
          <a:xfrm>
            <a:off x="3931920" y="2514600"/>
            <a:ext cx="7589520" cy="822960"/>
          </a:xfrm>
          <a:prstGeom prst="rect">
            <a:avLst/>
          </a:prstGeom>
          <a:noFill/>
        </p:spPr>
        <p:txBody>
          <a:bodyPr wrap="square">
            <a:spAutoFit/>
          </a:bodyPr>
          <a:lstStyle/>
          <a:p>
            <a:pPr algn="l"/>
            <a:r>
              <a:rPr sz="1200" b="0" i="0">
                <a:solidFill>
                  <a:srgbClr val="CBD5E1"/>
                </a:solidFill>
              </a:rPr>
              <a:t>Tests check examples; they cannot prove a property holds for all inputs</a:t>
            </a:r>
          </a:p>
        </p:txBody>
      </p:sp>
      <p:sp>
        <p:nvSpPr>
          <p:cNvPr id="11" name="Rectangle 10"/>
          <p:cNvSpPr/>
          <p:nvPr/>
        </p:nvSpPr>
        <p:spPr>
          <a:xfrm>
            <a:off x="365760" y="3566160"/>
            <a:ext cx="11338560" cy="960120"/>
          </a:xfrm>
          <a:prstGeom prst="rect">
            <a:avLst/>
          </a:prstGeom>
          <a:solidFill>
            <a:srgbClr val="161B27"/>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611880"/>
            <a:ext cx="3474720" cy="411480"/>
          </a:xfrm>
          <a:prstGeom prst="rect">
            <a:avLst/>
          </a:prstGeom>
          <a:noFill/>
        </p:spPr>
        <p:txBody>
          <a:bodyPr wrap="square">
            <a:spAutoFit/>
          </a:bodyPr>
          <a:lstStyle/>
          <a:p>
            <a:pPr algn="l"/>
            <a:r>
              <a:rPr sz="1300" b="1" i="0">
                <a:solidFill>
                  <a:srgbClr val="F59E0B"/>
                </a:solidFill>
              </a:rPr>
              <a:t>  ✗  Unauditable pipelines</a:t>
            </a:r>
          </a:p>
        </p:txBody>
      </p:sp>
      <p:sp>
        <p:nvSpPr>
          <p:cNvPr id="13" name="TextBox 12"/>
          <p:cNvSpPr txBox="1"/>
          <p:nvPr/>
        </p:nvSpPr>
        <p:spPr>
          <a:xfrm>
            <a:off x="3931920" y="3611880"/>
            <a:ext cx="7589520" cy="822960"/>
          </a:xfrm>
          <a:prstGeom prst="rect">
            <a:avLst/>
          </a:prstGeom>
          <a:noFill/>
        </p:spPr>
        <p:txBody>
          <a:bodyPr wrap="square">
            <a:spAutoFit/>
          </a:bodyPr>
          <a:lstStyle/>
          <a:p>
            <a:pPr algn="l"/>
            <a:r>
              <a:rPr sz="1200" b="0" i="0">
                <a:solidFill>
                  <a:srgbClr val="CBD5E1"/>
                </a:solidFill>
              </a:rPr>
              <a:t>Stakeholders must blindly trust the code — there is no machine-readable guarantee</a:t>
            </a:r>
          </a:p>
        </p:txBody>
      </p:sp>
      <p:sp>
        <p:nvSpPr>
          <p:cNvPr id="14" name="Rectangle 13"/>
          <p:cNvSpPr/>
          <p:nvPr/>
        </p:nvSpPr>
        <p:spPr>
          <a:xfrm>
            <a:off x="365760" y="4663440"/>
            <a:ext cx="11338560" cy="960120"/>
          </a:xfrm>
          <a:prstGeom prst="rect">
            <a:avLst/>
          </a:prstGeom>
          <a:solidFill>
            <a:srgbClr val="161B27"/>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709160"/>
            <a:ext cx="3474720" cy="411480"/>
          </a:xfrm>
          <a:prstGeom prst="rect">
            <a:avLst/>
          </a:prstGeom>
          <a:noFill/>
        </p:spPr>
        <p:txBody>
          <a:bodyPr wrap="square">
            <a:spAutoFit/>
          </a:bodyPr>
          <a:lstStyle/>
          <a:p>
            <a:pPr algn="l"/>
            <a:r>
              <a:rPr sz="1300" b="1" i="0">
                <a:solidFill>
                  <a:srgbClr val="F59E0B"/>
                </a:solidFill>
              </a:rPr>
              <a:t>  ✗  Manual review costs</a:t>
            </a:r>
          </a:p>
        </p:txBody>
      </p:sp>
      <p:sp>
        <p:nvSpPr>
          <p:cNvPr id="16" name="TextBox 15"/>
          <p:cNvSpPr txBox="1"/>
          <p:nvPr/>
        </p:nvSpPr>
        <p:spPr>
          <a:xfrm>
            <a:off x="3931920" y="4709160"/>
            <a:ext cx="7589520" cy="822960"/>
          </a:xfrm>
          <a:prstGeom prst="rect">
            <a:avLst/>
          </a:prstGeom>
          <a:noFill/>
        </p:spPr>
        <p:txBody>
          <a:bodyPr wrap="square">
            <a:spAutoFit/>
          </a:bodyPr>
          <a:lstStyle/>
          <a:p>
            <a:pPr algn="l"/>
            <a:r>
              <a:rPr sz="1200" b="0" i="0">
                <a:solidFill>
                  <a:srgbClr val="CBD5E1"/>
                </a:solidFill>
              </a:rPr>
              <a:t>Every EDA library update requires re-auditing; proofs stay valid automatically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Our Solution</a:t>
            </a:r>
          </a:p>
        </p:txBody>
      </p:sp>
      <p:sp>
        <p:nvSpPr>
          <p:cNvPr id="4" name="TextBox 3"/>
          <p:cNvSpPr txBox="1"/>
          <p:nvPr/>
        </p:nvSpPr>
        <p:spPr>
          <a:xfrm>
            <a:off x="457200" y="777240"/>
            <a:ext cx="10972800" cy="457200"/>
          </a:xfrm>
          <a:prstGeom prst="rect">
            <a:avLst/>
          </a:prstGeom>
          <a:noFill/>
        </p:spPr>
        <p:txBody>
          <a:bodyPr wrap="square">
            <a:spAutoFit/>
          </a:bodyPr>
          <a:lstStyle/>
          <a:p>
            <a:pPr algn="l"/>
            <a:r>
              <a:rPr sz="1700" b="0" i="0">
                <a:solidFill>
                  <a:srgbClr val="10B981"/>
                </a:solidFill>
              </a:rPr>
              <a:t>Verified EDA — every number backed by a proof</a:t>
            </a:r>
          </a:p>
        </p:txBody>
      </p:sp>
      <p:sp>
        <p:nvSpPr>
          <p:cNvPr id="5" name="Rectangle 4"/>
          <p:cNvSpPr/>
          <p:nvPr/>
        </p:nvSpPr>
        <p:spPr>
          <a:xfrm>
            <a:off x="228600" y="1371600"/>
            <a:ext cx="2834640" cy="4754880"/>
          </a:xfrm>
          <a:prstGeom prst="rect">
            <a:avLst/>
          </a:prstGeom>
          <a:solidFill>
            <a:srgbClr val="161B27"/>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371600"/>
            <a:ext cx="283464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71600"/>
            <a:ext cx="2834640" cy="411480"/>
          </a:xfrm>
          <a:prstGeom prst="rect">
            <a:avLst/>
          </a:prstGeom>
          <a:noFill/>
        </p:spPr>
        <p:txBody>
          <a:bodyPr wrap="square">
            <a:spAutoFit/>
          </a:bodyPr>
          <a:lstStyle/>
          <a:p>
            <a:pPr algn="ctr"/>
            <a:r>
              <a:rPr sz="1300" b="1" i="0">
                <a:solidFill>
                  <a:srgbClr val="FFFFFF"/>
                </a:solidFill>
              </a:rPr>
              <a:t>Python Library</a:t>
            </a:r>
          </a:p>
        </p:txBody>
      </p:sp>
      <p:sp>
        <p:nvSpPr>
          <p:cNvPr id="8" name="TextBox 7"/>
          <p:cNvSpPr txBox="1"/>
          <p:nvPr/>
        </p:nvSpPr>
        <p:spPr>
          <a:xfrm>
            <a:off x="228600" y="1783080"/>
            <a:ext cx="2834640" cy="320040"/>
          </a:xfrm>
          <a:prstGeom prst="rect">
            <a:avLst/>
          </a:prstGeom>
          <a:noFill/>
        </p:spPr>
        <p:txBody>
          <a:bodyPr wrap="square">
            <a:spAutoFit/>
          </a:bodyPr>
          <a:lstStyle/>
          <a:p>
            <a:pPr algn="ctr"/>
            <a:r>
              <a:rPr sz="900" b="0" i="1">
                <a:solidFill>
                  <a:srgbClr val="3B82F6"/>
                </a:solidFill>
              </a:rPr>
              <a:t>verified_eda/</a:t>
            </a:r>
          </a:p>
        </p:txBody>
      </p:sp>
      <p:sp>
        <p:nvSpPr>
          <p:cNvPr id="9" name="TextBox 8"/>
          <p:cNvSpPr txBox="1"/>
          <p:nvPr/>
        </p:nvSpPr>
        <p:spPr>
          <a:xfrm>
            <a:off x="338328" y="2148840"/>
            <a:ext cx="2651760" cy="822960"/>
          </a:xfrm>
          <a:prstGeom prst="rect">
            <a:avLst/>
          </a:prstGeom>
          <a:noFill/>
        </p:spPr>
        <p:txBody>
          <a:bodyPr wrap="square">
            <a:spAutoFit/>
          </a:bodyPr>
          <a:lstStyle/>
          <a:p>
            <a:pPr algn="l"/>
            <a:r>
              <a:rPr sz="1100" b="0" i="0">
                <a:solidFill>
                  <a:srgbClr val="CBD5E1"/>
                </a:solidFill>
              </a:rPr>
              <a:t>• mean, variance, std,
median, min, max</a:t>
            </a:r>
          </a:p>
        </p:txBody>
      </p:sp>
      <p:sp>
        <p:nvSpPr>
          <p:cNvPr id="10" name="TextBox 9"/>
          <p:cNvSpPr txBox="1"/>
          <p:nvPr/>
        </p:nvSpPr>
        <p:spPr>
          <a:xfrm>
            <a:off x="338328" y="3017520"/>
            <a:ext cx="2651760" cy="822960"/>
          </a:xfrm>
          <a:prstGeom prst="rect">
            <a:avLst/>
          </a:prstGeom>
          <a:noFill/>
        </p:spPr>
        <p:txBody>
          <a:bodyPr wrap="square">
            <a:spAutoFit/>
          </a:bodyPr>
          <a:lstStyle/>
          <a:p>
            <a:pPr algn="l"/>
            <a:r>
              <a:rPr sz="1100" b="0" i="0">
                <a:solidFill>
                  <a:srgbClr val="CBD5E1"/>
                </a:solidFill>
              </a:rPr>
              <a:t>• Pearson correlation
&amp; histogram</a:t>
            </a:r>
          </a:p>
        </p:txBody>
      </p:sp>
      <p:sp>
        <p:nvSpPr>
          <p:cNvPr id="11" name="TextBox 10"/>
          <p:cNvSpPr txBox="1"/>
          <p:nvPr/>
        </p:nvSpPr>
        <p:spPr>
          <a:xfrm>
            <a:off x="338328" y="3886200"/>
            <a:ext cx="2651760" cy="822960"/>
          </a:xfrm>
          <a:prstGeom prst="rect">
            <a:avLst/>
          </a:prstGeom>
          <a:noFill/>
        </p:spPr>
        <p:txBody>
          <a:bodyPr wrap="square">
            <a:spAutoFit/>
          </a:bodyPr>
          <a:lstStyle/>
          <a:p>
            <a:pPr algn="l"/>
            <a:r>
              <a:rPr sz="1100" b="0" i="0">
                <a:solidFill>
                  <a:srgbClr val="CBD5E1"/>
                </a:solidFill>
              </a:rPr>
              <a:t>• Returns VerifiedResult
with theorem reference</a:t>
            </a:r>
          </a:p>
        </p:txBody>
      </p:sp>
      <p:sp>
        <p:nvSpPr>
          <p:cNvPr id="12" name="TextBox 11"/>
          <p:cNvSpPr txBox="1"/>
          <p:nvPr/>
        </p:nvSpPr>
        <p:spPr>
          <a:xfrm>
            <a:off x="338328" y="4754879"/>
            <a:ext cx="2651760" cy="822960"/>
          </a:xfrm>
          <a:prstGeom prst="rect">
            <a:avLst/>
          </a:prstGeom>
          <a:noFill/>
        </p:spPr>
        <p:txBody>
          <a:bodyPr wrap="square">
            <a:spAutoFit/>
          </a:bodyPr>
          <a:lstStyle/>
          <a:p>
            <a:pPr algn="l"/>
            <a:r>
              <a:rPr sz="1100" b="0" i="0">
                <a:solidFill>
                  <a:srgbClr val="CBD5E1"/>
                </a:solidFill>
              </a:rPr>
              <a:t>• 49 property-based tests</a:t>
            </a:r>
          </a:p>
        </p:txBody>
      </p:sp>
      <p:sp>
        <p:nvSpPr>
          <p:cNvPr id="13" name="Rectangle 12"/>
          <p:cNvSpPr/>
          <p:nvPr/>
        </p:nvSpPr>
        <p:spPr>
          <a:xfrm>
            <a:off x="3218688" y="1371600"/>
            <a:ext cx="2834640" cy="4754880"/>
          </a:xfrm>
          <a:prstGeom prst="rect">
            <a:avLst/>
          </a:prstGeom>
          <a:solidFill>
            <a:srgbClr val="161B27"/>
          </a:solidFill>
          <a:ln w="1905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18688" y="1371600"/>
            <a:ext cx="2834640" cy="41148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18688" y="1371600"/>
            <a:ext cx="2834640" cy="411480"/>
          </a:xfrm>
          <a:prstGeom prst="rect">
            <a:avLst/>
          </a:prstGeom>
          <a:noFill/>
        </p:spPr>
        <p:txBody>
          <a:bodyPr wrap="square">
            <a:spAutoFit/>
          </a:bodyPr>
          <a:lstStyle/>
          <a:p>
            <a:pPr algn="ctr"/>
            <a:r>
              <a:rPr sz="1300" b="1" i="0">
                <a:solidFill>
                  <a:srgbClr val="FFFFFF"/>
                </a:solidFill>
              </a:rPr>
              <a:t>Lean 4 Proofs</a:t>
            </a:r>
          </a:p>
        </p:txBody>
      </p:sp>
      <p:sp>
        <p:nvSpPr>
          <p:cNvPr id="16" name="TextBox 15"/>
          <p:cNvSpPr txBox="1"/>
          <p:nvPr/>
        </p:nvSpPr>
        <p:spPr>
          <a:xfrm>
            <a:off x="3218688" y="1783080"/>
            <a:ext cx="2834640" cy="320040"/>
          </a:xfrm>
          <a:prstGeom prst="rect">
            <a:avLst/>
          </a:prstGeom>
          <a:noFill/>
        </p:spPr>
        <p:txBody>
          <a:bodyPr wrap="square">
            <a:spAutoFit/>
          </a:bodyPr>
          <a:lstStyle/>
          <a:p>
            <a:pPr algn="ctr"/>
            <a:r>
              <a:rPr sz="900" b="0" i="1">
                <a:solidFill>
                  <a:srgbClr val="A85CFF"/>
                </a:solidFill>
              </a:rPr>
              <a:t>lean/VerifiedEDA/</a:t>
            </a:r>
          </a:p>
        </p:txBody>
      </p:sp>
      <p:sp>
        <p:nvSpPr>
          <p:cNvPr id="17" name="TextBox 16"/>
          <p:cNvSpPr txBox="1"/>
          <p:nvPr/>
        </p:nvSpPr>
        <p:spPr>
          <a:xfrm>
            <a:off x="3328416" y="2148840"/>
            <a:ext cx="2651760" cy="822960"/>
          </a:xfrm>
          <a:prstGeom prst="rect">
            <a:avLst/>
          </a:prstGeom>
          <a:noFill/>
        </p:spPr>
        <p:txBody>
          <a:bodyPr wrap="square">
            <a:spAutoFit/>
          </a:bodyPr>
          <a:lstStyle/>
          <a:p>
            <a:pPr algn="l"/>
            <a:r>
              <a:rPr sz="1100" b="0" i="0">
                <a:solidFill>
                  <a:srgbClr val="CBD5E1"/>
                </a:solidFill>
              </a:rPr>
              <a:t>• variance_nonneg</a:t>
            </a:r>
          </a:p>
        </p:txBody>
      </p:sp>
      <p:sp>
        <p:nvSpPr>
          <p:cNvPr id="18" name="TextBox 17"/>
          <p:cNvSpPr txBox="1"/>
          <p:nvPr/>
        </p:nvSpPr>
        <p:spPr>
          <a:xfrm>
            <a:off x="3328416" y="3017520"/>
            <a:ext cx="2651760" cy="822960"/>
          </a:xfrm>
          <a:prstGeom prst="rect">
            <a:avLst/>
          </a:prstGeom>
          <a:noFill/>
        </p:spPr>
        <p:txBody>
          <a:bodyPr wrap="square">
            <a:spAutoFit/>
          </a:bodyPr>
          <a:lstStyle/>
          <a:p>
            <a:pPr algn="l"/>
            <a:r>
              <a:rPr sz="1100" b="0" i="0">
                <a:solidFill>
                  <a:srgbClr val="CBD5E1"/>
                </a:solidFill>
              </a:rPr>
              <a:t>• sqDiff_nonneg</a:t>
            </a:r>
          </a:p>
        </p:txBody>
      </p:sp>
      <p:sp>
        <p:nvSpPr>
          <p:cNvPr id="19" name="TextBox 18"/>
          <p:cNvSpPr txBox="1"/>
          <p:nvPr/>
        </p:nvSpPr>
        <p:spPr>
          <a:xfrm>
            <a:off x="3328416" y="3886200"/>
            <a:ext cx="2651760" cy="822960"/>
          </a:xfrm>
          <a:prstGeom prst="rect">
            <a:avLst/>
          </a:prstGeom>
          <a:noFill/>
        </p:spPr>
        <p:txBody>
          <a:bodyPr wrap="square">
            <a:spAutoFit/>
          </a:bodyPr>
          <a:lstStyle/>
          <a:p>
            <a:pPr algn="l"/>
            <a:r>
              <a:rPr sz="1100" b="0" i="0">
                <a:solidFill>
                  <a:srgbClr val="CBD5E1"/>
                </a:solidFill>
              </a:rPr>
              <a:t>• innerProd_self_nonneg</a:t>
            </a:r>
          </a:p>
        </p:txBody>
      </p:sp>
      <p:sp>
        <p:nvSpPr>
          <p:cNvPr id="20" name="TextBox 19"/>
          <p:cNvSpPr txBox="1"/>
          <p:nvPr/>
        </p:nvSpPr>
        <p:spPr>
          <a:xfrm>
            <a:off x="3328416" y="4754879"/>
            <a:ext cx="2651760" cy="822960"/>
          </a:xfrm>
          <a:prstGeom prst="rect">
            <a:avLst/>
          </a:prstGeom>
          <a:noFill/>
        </p:spPr>
        <p:txBody>
          <a:bodyPr wrap="square">
            <a:spAutoFit/>
          </a:bodyPr>
          <a:lstStyle/>
          <a:p>
            <a:pPr algn="l"/>
            <a:r>
              <a:rPr sz="1100" b="0" i="0">
                <a:solidFill>
                  <a:srgbClr val="CBD5E1"/>
                </a:solidFill>
              </a:rPr>
              <a:t>• Cauchy-Schwarz (open)</a:t>
            </a:r>
          </a:p>
        </p:txBody>
      </p:sp>
      <p:sp>
        <p:nvSpPr>
          <p:cNvPr id="21" name="Rectangle 20"/>
          <p:cNvSpPr/>
          <p:nvPr/>
        </p:nvSpPr>
        <p:spPr>
          <a:xfrm>
            <a:off x="6208776" y="1371600"/>
            <a:ext cx="2834640" cy="4754880"/>
          </a:xfrm>
          <a:prstGeom prst="rect">
            <a:avLst/>
          </a:prstGeom>
          <a:solidFill>
            <a:srgbClr val="161B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08776" y="1371600"/>
            <a:ext cx="283464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08776" y="1371600"/>
            <a:ext cx="2834640" cy="411480"/>
          </a:xfrm>
          <a:prstGeom prst="rect">
            <a:avLst/>
          </a:prstGeom>
          <a:noFill/>
        </p:spPr>
        <p:txBody>
          <a:bodyPr wrap="square">
            <a:spAutoFit/>
          </a:bodyPr>
          <a:lstStyle/>
          <a:p>
            <a:pPr algn="ctr"/>
            <a:r>
              <a:rPr sz="1300" b="1" i="0">
                <a:solidFill>
                  <a:srgbClr val="FFFFFF"/>
                </a:solidFill>
              </a:rPr>
              <a:t>Agentic Pipeline</a:t>
            </a:r>
          </a:p>
        </p:txBody>
      </p:sp>
      <p:sp>
        <p:nvSpPr>
          <p:cNvPr id="24" name="TextBox 23"/>
          <p:cNvSpPr txBox="1"/>
          <p:nvPr/>
        </p:nvSpPr>
        <p:spPr>
          <a:xfrm>
            <a:off x="6208776" y="1783080"/>
            <a:ext cx="2834640" cy="320040"/>
          </a:xfrm>
          <a:prstGeom prst="rect">
            <a:avLst/>
          </a:prstGeom>
          <a:noFill/>
        </p:spPr>
        <p:txBody>
          <a:bodyPr wrap="square">
            <a:spAutoFit/>
          </a:bodyPr>
          <a:lstStyle/>
          <a:p>
            <a:pPr algn="ctr"/>
            <a:r>
              <a:rPr sz="900" b="0" i="1">
                <a:solidFill>
                  <a:srgbClr val="06B6D4"/>
                </a:solidFill>
              </a:rPr>
              <a:t>verified_eda/agents/</a:t>
            </a:r>
          </a:p>
        </p:txBody>
      </p:sp>
      <p:sp>
        <p:nvSpPr>
          <p:cNvPr id="25" name="TextBox 24"/>
          <p:cNvSpPr txBox="1"/>
          <p:nvPr/>
        </p:nvSpPr>
        <p:spPr>
          <a:xfrm>
            <a:off x="6318504" y="2148840"/>
            <a:ext cx="2651760" cy="822960"/>
          </a:xfrm>
          <a:prstGeom prst="rect">
            <a:avLst/>
          </a:prstGeom>
          <a:noFill/>
        </p:spPr>
        <p:txBody>
          <a:bodyPr wrap="square">
            <a:spAutoFit/>
          </a:bodyPr>
          <a:lstStyle/>
          <a:p>
            <a:pPr algn="l"/>
            <a:r>
              <a:rPr sz="1100" b="0" i="0">
                <a:solidFill>
                  <a:srgbClr val="CBD5E1"/>
                </a:solidFill>
              </a:rPr>
              <a:t>• Translator: Py → Lean</a:t>
            </a:r>
          </a:p>
        </p:txBody>
      </p:sp>
      <p:sp>
        <p:nvSpPr>
          <p:cNvPr id="26" name="TextBox 25"/>
          <p:cNvSpPr txBox="1"/>
          <p:nvPr/>
        </p:nvSpPr>
        <p:spPr>
          <a:xfrm>
            <a:off x="6318504" y="3017520"/>
            <a:ext cx="2651760" cy="822960"/>
          </a:xfrm>
          <a:prstGeom prst="rect">
            <a:avLst/>
          </a:prstGeom>
          <a:noFill/>
        </p:spPr>
        <p:txBody>
          <a:bodyPr wrap="square">
            <a:spAutoFit/>
          </a:bodyPr>
          <a:lstStyle/>
          <a:p>
            <a:pPr algn="l"/>
            <a:r>
              <a:rPr sz="1100" b="0" i="0">
                <a:solidFill>
                  <a:srgbClr val="CBD5E1"/>
                </a:solidFill>
              </a:rPr>
              <a:t>• Prover: tactic search</a:t>
            </a:r>
          </a:p>
        </p:txBody>
      </p:sp>
      <p:sp>
        <p:nvSpPr>
          <p:cNvPr id="27" name="TextBox 26"/>
          <p:cNvSpPr txBox="1"/>
          <p:nvPr/>
        </p:nvSpPr>
        <p:spPr>
          <a:xfrm>
            <a:off x="6318504" y="3886200"/>
            <a:ext cx="2651760" cy="822960"/>
          </a:xfrm>
          <a:prstGeom prst="rect">
            <a:avLst/>
          </a:prstGeom>
          <a:noFill/>
        </p:spPr>
        <p:txBody>
          <a:bodyPr wrap="square">
            <a:spAutoFit/>
          </a:bodyPr>
          <a:lstStyle/>
          <a:p>
            <a:pPr algn="l"/>
            <a:r>
              <a:rPr sz="1100" b="0" i="0">
                <a:solidFill>
                  <a:srgbClr val="CBD5E1"/>
                </a:solidFill>
              </a:rPr>
              <a:t>• Certifier: SHA-256 cert</a:t>
            </a:r>
          </a:p>
        </p:txBody>
      </p:sp>
      <p:sp>
        <p:nvSpPr>
          <p:cNvPr id="28" name="TextBox 27"/>
          <p:cNvSpPr txBox="1"/>
          <p:nvPr/>
        </p:nvSpPr>
        <p:spPr>
          <a:xfrm>
            <a:off x="6318504" y="4754879"/>
            <a:ext cx="2651760" cy="822960"/>
          </a:xfrm>
          <a:prstGeom prst="rect">
            <a:avLst/>
          </a:prstGeom>
          <a:noFill/>
        </p:spPr>
        <p:txBody>
          <a:bodyPr wrap="square">
            <a:spAutoFit/>
          </a:bodyPr>
          <a:lstStyle/>
          <a:p>
            <a:pPr algn="l"/>
            <a:r>
              <a:rPr sz="1100" b="0" i="0">
                <a:solidFill>
                  <a:srgbClr val="CBD5E1"/>
                </a:solidFill>
              </a:rPr>
              <a:t>• Orchestrator: master agent</a:t>
            </a:r>
          </a:p>
        </p:txBody>
      </p:sp>
      <p:sp>
        <p:nvSpPr>
          <p:cNvPr id="29" name="Rectangle 28"/>
          <p:cNvSpPr/>
          <p:nvPr/>
        </p:nvSpPr>
        <p:spPr>
          <a:xfrm>
            <a:off x="9198864" y="1371600"/>
            <a:ext cx="2834640" cy="4754880"/>
          </a:xfrm>
          <a:prstGeom prst="rect">
            <a:avLst/>
          </a:prstGeom>
          <a:solidFill>
            <a:srgbClr val="161B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198864" y="1371600"/>
            <a:ext cx="283464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98864" y="1371600"/>
            <a:ext cx="2834640" cy="411480"/>
          </a:xfrm>
          <a:prstGeom prst="rect">
            <a:avLst/>
          </a:prstGeom>
          <a:noFill/>
        </p:spPr>
        <p:txBody>
          <a:bodyPr wrap="square">
            <a:spAutoFit/>
          </a:bodyPr>
          <a:lstStyle/>
          <a:p>
            <a:pPr algn="ctr"/>
            <a:r>
              <a:rPr sz="1300" b="1" i="0">
                <a:solidFill>
                  <a:srgbClr val="FFFFFF"/>
                </a:solidFill>
              </a:rPr>
              <a:t>Dashboard UI</a:t>
            </a:r>
          </a:p>
        </p:txBody>
      </p:sp>
      <p:sp>
        <p:nvSpPr>
          <p:cNvPr id="32" name="TextBox 31"/>
          <p:cNvSpPr txBox="1"/>
          <p:nvPr/>
        </p:nvSpPr>
        <p:spPr>
          <a:xfrm>
            <a:off x="9198864" y="1783080"/>
            <a:ext cx="2834640" cy="320040"/>
          </a:xfrm>
          <a:prstGeom prst="rect">
            <a:avLst/>
          </a:prstGeom>
          <a:noFill/>
        </p:spPr>
        <p:txBody>
          <a:bodyPr wrap="square">
            <a:spAutoFit/>
          </a:bodyPr>
          <a:lstStyle/>
          <a:p>
            <a:pPr algn="ctr"/>
            <a:r>
              <a:rPr sz="900" b="0" i="1">
                <a:solidFill>
                  <a:srgbClr val="10B981"/>
                </a:solidFill>
              </a:rPr>
              <a:t>ui/</a:t>
            </a:r>
          </a:p>
        </p:txBody>
      </p:sp>
      <p:sp>
        <p:nvSpPr>
          <p:cNvPr id="33" name="TextBox 32"/>
          <p:cNvSpPr txBox="1"/>
          <p:nvPr/>
        </p:nvSpPr>
        <p:spPr>
          <a:xfrm>
            <a:off x="9308592" y="2148840"/>
            <a:ext cx="2651760" cy="822960"/>
          </a:xfrm>
          <a:prstGeom prst="rect">
            <a:avLst/>
          </a:prstGeom>
          <a:noFill/>
        </p:spPr>
        <p:txBody>
          <a:bodyPr wrap="square">
            <a:spAutoFit/>
          </a:bodyPr>
          <a:lstStyle/>
          <a:p>
            <a:pPr algn="l"/>
            <a:r>
              <a:rPr sz="1100" b="0" i="0">
                <a:solidFill>
                  <a:srgbClr val="CBD5E1"/>
                </a:solidFill>
              </a:rPr>
              <a:t>• React + Vite frontend</a:t>
            </a:r>
          </a:p>
        </p:txBody>
      </p:sp>
      <p:sp>
        <p:nvSpPr>
          <p:cNvPr id="34" name="TextBox 33"/>
          <p:cNvSpPr txBox="1"/>
          <p:nvPr/>
        </p:nvSpPr>
        <p:spPr>
          <a:xfrm>
            <a:off x="9308592" y="3017520"/>
            <a:ext cx="2651760" cy="822960"/>
          </a:xfrm>
          <a:prstGeom prst="rect">
            <a:avLst/>
          </a:prstGeom>
          <a:noFill/>
        </p:spPr>
        <p:txBody>
          <a:bodyPr wrap="square">
            <a:spAutoFit/>
          </a:bodyPr>
          <a:lstStyle/>
          <a:p>
            <a:pPr algn="l"/>
            <a:r>
              <a:rPr sz="1100" b="0" i="0">
                <a:solidFill>
                  <a:srgbClr val="CBD5E1"/>
                </a:solidFill>
              </a:rPr>
              <a:t>• FastAPI backend :8420</a:t>
            </a:r>
          </a:p>
        </p:txBody>
      </p:sp>
      <p:sp>
        <p:nvSpPr>
          <p:cNvPr id="35" name="TextBox 34"/>
          <p:cNvSpPr txBox="1"/>
          <p:nvPr/>
        </p:nvSpPr>
        <p:spPr>
          <a:xfrm>
            <a:off x="9308592" y="3886200"/>
            <a:ext cx="2651760" cy="822960"/>
          </a:xfrm>
          <a:prstGeom prst="rect">
            <a:avLst/>
          </a:prstGeom>
          <a:noFill/>
        </p:spPr>
        <p:txBody>
          <a:bodyPr wrap="square">
            <a:spAutoFit/>
          </a:bodyPr>
          <a:lstStyle/>
          <a:p>
            <a:pPr algn="l"/>
            <a:r>
              <a:rPr sz="1100" b="0" i="0">
                <a:solidFill>
                  <a:srgbClr val="CBD5E1"/>
                </a:solidFill>
              </a:rPr>
              <a:t>• WebSocket streaming</a:t>
            </a:r>
          </a:p>
        </p:txBody>
      </p:sp>
      <p:sp>
        <p:nvSpPr>
          <p:cNvPr id="36" name="TextBox 35"/>
          <p:cNvSpPr txBox="1"/>
          <p:nvPr/>
        </p:nvSpPr>
        <p:spPr>
          <a:xfrm>
            <a:off x="9308592" y="4754879"/>
            <a:ext cx="2651760" cy="822960"/>
          </a:xfrm>
          <a:prstGeom prst="rect">
            <a:avLst/>
          </a:prstGeom>
          <a:noFill/>
        </p:spPr>
        <p:txBody>
          <a:bodyPr wrap="square">
            <a:spAutoFit/>
          </a:bodyPr>
          <a:lstStyle/>
          <a:p>
            <a:pPr algn="l"/>
            <a:r>
              <a:rPr sz="1100" b="0" i="0">
                <a:solidFill>
                  <a:srgbClr val="CBD5E1"/>
                </a:solidFill>
              </a:rPr>
              <a:t>• lake build trigger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How It Works</a:t>
            </a:r>
          </a:p>
        </p:txBody>
      </p:sp>
      <p:sp>
        <p:nvSpPr>
          <p:cNvPr id="4" name="TextBox 3"/>
          <p:cNvSpPr txBox="1"/>
          <p:nvPr/>
        </p:nvSpPr>
        <p:spPr>
          <a:xfrm>
            <a:off x="457200" y="777240"/>
            <a:ext cx="10972800" cy="411480"/>
          </a:xfrm>
          <a:prstGeom prst="rect">
            <a:avLst/>
          </a:prstGeom>
          <a:noFill/>
        </p:spPr>
        <p:txBody>
          <a:bodyPr wrap="square">
            <a:spAutoFit/>
          </a:bodyPr>
          <a:lstStyle/>
          <a:p>
            <a:pPr algn="l"/>
            <a:r>
              <a:rPr sz="1700" b="0" i="0">
                <a:solidFill>
                  <a:srgbClr val="3B82F6"/>
                </a:solidFill>
              </a:rPr>
              <a:t>Five-stage agentic verification pipeline</a:t>
            </a:r>
          </a:p>
        </p:txBody>
      </p:sp>
      <p:sp>
        <p:nvSpPr>
          <p:cNvPr id="5" name="Rectangle 4"/>
          <p:cNvSpPr/>
          <p:nvPr/>
        </p:nvSpPr>
        <p:spPr>
          <a:xfrm>
            <a:off x="457200" y="1463040"/>
            <a:ext cx="2103120" cy="1554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2103120" cy="502920"/>
          </a:xfrm>
          <a:prstGeom prst="rect">
            <a:avLst/>
          </a:prstGeom>
          <a:noFill/>
        </p:spPr>
        <p:txBody>
          <a:bodyPr wrap="square">
            <a:spAutoFit/>
          </a:bodyPr>
          <a:lstStyle/>
          <a:p>
            <a:pPr algn="ctr"/>
            <a:r>
              <a:rPr sz="1300" b="1" i="0">
                <a:solidFill>
                  <a:srgbClr val="FFFFFF"/>
                </a:solidFill>
              </a:rPr>
              <a:t>1  Raw Data</a:t>
            </a:r>
          </a:p>
        </p:txBody>
      </p:sp>
      <p:sp>
        <p:nvSpPr>
          <p:cNvPr id="7" name="TextBox 6"/>
          <p:cNvSpPr txBox="1"/>
          <p:nvPr/>
        </p:nvSpPr>
        <p:spPr>
          <a:xfrm>
            <a:off x="457200" y="2011680"/>
            <a:ext cx="2103120" cy="914400"/>
          </a:xfrm>
          <a:prstGeom prst="rect">
            <a:avLst/>
          </a:prstGeom>
          <a:noFill/>
        </p:spPr>
        <p:txBody>
          <a:bodyPr wrap="square">
            <a:spAutoFit/>
          </a:bodyPr>
          <a:lstStyle/>
          <a:p>
            <a:pPr algn="ctr"/>
            <a:r>
              <a:rPr sz="1100" b="0" i="0">
                <a:solidFill>
                  <a:srgbClr val="FFFFFF"/>
                </a:solidFill>
              </a:rPr>
              <a:t>CSV / matrix
input</a:t>
            </a:r>
          </a:p>
        </p:txBody>
      </p:sp>
      <p:sp>
        <p:nvSpPr>
          <p:cNvPr id="8" name="TextBox 7"/>
          <p:cNvSpPr txBox="1"/>
          <p:nvPr/>
        </p:nvSpPr>
        <p:spPr>
          <a:xfrm>
            <a:off x="2560320" y="1828800"/>
            <a:ext cx="237744" cy="548640"/>
          </a:xfrm>
          <a:prstGeom prst="rect">
            <a:avLst/>
          </a:prstGeom>
          <a:noFill/>
        </p:spPr>
        <p:txBody>
          <a:bodyPr wrap="square">
            <a:spAutoFit/>
          </a:bodyPr>
          <a:lstStyle/>
          <a:p>
            <a:pPr algn="ctr"/>
            <a:r>
              <a:rPr sz="2200" b="1" i="0">
                <a:solidFill>
                  <a:srgbClr val="64748B"/>
                </a:solidFill>
              </a:rPr>
              <a:t>→</a:t>
            </a:r>
          </a:p>
        </p:txBody>
      </p:sp>
      <p:sp>
        <p:nvSpPr>
          <p:cNvPr id="9" name="Rectangle 8"/>
          <p:cNvSpPr/>
          <p:nvPr/>
        </p:nvSpPr>
        <p:spPr>
          <a:xfrm>
            <a:off x="2798064" y="1463040"/>
            <a:ext cx="2103120" cy="1554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98064" y="1508760"/>
            <a:ext cx="2103120" cy="502920"/>
          </a:xfrm>
          <a:prstGeom prst="rect">
            <a:avLst/>
          </a:prstGeom>
          <a:noFill/>
        </p:spPr>
        <p:txBody>
          <a:bodyPr wrap="square">
            <a:spAutoFit/>
          </a:bodyPr>
          <a:lstStyle/>
          <a:p>
            <a:pPr algn="ctr"/>
            <a:r>
              <a:rPr sz="1300" b="1" i="0">
                <a:solidFill>
                  <a:srgbClr val="FFFFFF"/>
                </a:solidFill>
              </a:rPr>
              <a:t>2  Python EDA</a:t>
            </a:r>
          </a:p>
        </p:txBody>
      </p:sp>
      <p:sp>
        <p:nvSpPr>
          <p:cNvPr id="11" name="TextBox 10"/>
          <p:cNvSpPr txBox="1"/>
          <p:nvPr/>
        </p:nvSpPr>
        <p:spPr>
          <a:xfrm>
            <a:off x="2798064" y="2011680"/>
            <a:ext cx="2103120" cy="914400"/>
          </a:xfrm>
          <a:prstGeom prst="rect">
            <a:avLst/>
          </a:prstGeom>
          <a:noFill/>
        </p:spPr>
        <p:txBody>
          <a:bodyPr wrap="square">
            <a:spAutoFit/>
          </a:bodyPr>
          <a:lstStyle/>
          <a:p>
            <a:pPr algn="ctr"/>
            <a:r>
              <a:rPr sz="1100" b="0" i="0">
                <a:solidFill>
                  <a:srgbClr val="FFFFFF"/>
                </a:solidFill>
              </a:rPr>
              <a:t>mean, var, std
median, corr, hist</a:t>
            </a:r>
          </a:p>
        </p:txBody>
      </p:sp>
      <p:sp>
        <p:nvSpPr>
          <p:cNvPr id="12" name="TextBox 11"/>
          <p:cNvSpPr txBox="1"/>
          <p:nvPr/>
        </p:nvSpPr>
        <p:spPr>
          <a:xfrm>
            <a:off x="4901184" y="1828800"/>
            <a:ext cx="237744" cy="548640"/>
          </a:xfrm>
          <a:prstGeom prst="rect">
            <a:avLst/>
          </a:prstGeom>
          <a:noFill/>
        </p:spPr>
        <p:txBody>
          <a:bodyPr wrap="square">
            <a:spAutoFit/>
          </a:bodyPr>
          <a:lstStyle/>
          <a:p>
            <a:pPr algn="ctr"/>
            <a:r>
              <a:rPr sz="2200" b="1" i="0">
                <a:solidFill>
                  <a:srgbClr val="64748B"/>
                </a:solidFill>
              </a:rPr>
              <a:t>→</a:t>
            </a:r>
          </a:p>
        </p:txBody>
      </p:sp>
      <p:sp>
        <p:nvSpPr>
          <p:cNvPr id="13" name="Rectangle 12"/>
          <p:cNvSpPr/>
          <p:nvPr/>
        </p:nvSpPr>
        <p:spPr>
          <a:xfrm>
            <a:off x="5138928" y="1463040"/>
            <a:ext cx="2103120" cy="155448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38928" y="1508760"/>
            <a:ext cx="2103120" cy="502920"/>
          </a:xfrm>
          <a:prstGeom prst="rect">
            <a:avLst/>
          </a:prstGeom>
          <a:noFill/>
        </p:spPr>
        <p:txBody>
          <a:bodyPr wrap="square">
            <a:spAutoFit/>
          </a:bodyPr>
          <a:lstStyle/>
          <a:p>
            <a:pPr algn="ctr"/>
            <a:r>
              <a:rPr sz="1300" b="1" i="0">
                <a:solidFill>
                  <a:srgbClr val="FFFFFF"/>
                </a:solidFill>
              </a:rPr>
              <a:t>3  Translator</a:t>
            </a:r>
          </a:p>
        </p:txBody>
      </p:sp>
      <p:sp>
        <p:nvSpPr>
          <p:cNvPr id="15" name="TextBox 14"/>
          <p:cNvSpPr txBox="1"/>
          <p:nvPr/>
        </p:nvSpPr>
        <p:spPr>
          <a:xfrm>
            <a:off x="5138928" y="2011680"/>
            <a:ext cx="2103120" cy="914400"/>
          </a:xfrm>
          <a:prstGeom prst="rect">
            <a:avLst/>
          </a:prstGeom>
          <a:noFill/>
        </p:spPr>
        <p:txBody>
          <a:bodyPr wrap="square">
            <a:spAutoFit/>
          </a:bodyPr>
          <a:lstStyle/>
          <a:p>
            <a:pPr algn="ctr"/>
            <a:r>
              <a:rPr sz="1100" b="0" i="0">
                <a:solidFill>
                  <a:srgbClr val="FFFFFF"/>
                </a:solidFill>
              </a:rPr>
              <a:t>AST → Lean 4
definitions</a:t>
            </a:r>
          </a:p>
        </p:txBody>
      </p:sp>
      <p:sp>
        <p:nvSpPr>
          <p:cNvPr id="16" name="TextBox 15"/>
          <p:cNvSpPr txBox="1"/>
          <p:nvPr/>
        </p:nvSpPr>
        <p:spPr>
          <a:xfrm>
            <a:off x="7242048" y="1828800"/>
            <a:ext cx="237744" cy="548640"/>
          </a:xfrm>
          <a:prstGeom prst="rect">
            <a:avLst/>
          </a:prstGeom>
          <a:noFill/>
        </p:spPr>
        <p:txBody>
          <a:bodyPr wrap="square">
            <a:spAutoFit/>
          </a:bodyPr>
          <a:lstStyle/>
          <a:p>
            <a:pPr algn="ctr"/>
            <a:r>
              <a:rPr sz="2200" b="1" i="0">
                <a:solidFill>
                  <a:srgbClr val="64748B"/>
                </a:solidFill>
              </a:rPr>
              <a:t>→</a:t>
            </a:r>
          </a:p>
        </p:txBody>
      </p:sp>
      <p:sp>
        <p:nvSpPr>
          <p:cNvPr id="17" name="Rectangle 16"/>
          <p:cNvSpPr/>
          <p:nvPr/>
        </p:nvSpPr>
        <p:spPr>
          <a:xfrm>
            <a:off x="7479792" y="1463040"/>
            <a:ext cx="2103120" cy="1554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79792" y="1508760"/>
            <a:ext cx="2103120" cy="502920"/>
          </a:xfrm>
          <a:prstGeom prst="rect">
            <a:avLst/>
          </a:prstGeom>
          <a:noFill/>
        </p:spPr>
        <p:txBody>
          <a:bodyPr wrap="square">
            <a:spAutoFit/>
          </a:bodyPr>
          <a:lstStyle/>
          <a:p>
            <a:pPr algn="ctr"/>
            <a:r>
              <a:rPr sz="1300" b="1" i="0">
                <a:solidFill>
                  <a:srgbClr val="FFFFFF"/>
                </a:solidFill>
              </a:rPr>
              <a:t>4  Prover</a:t>
            </a:r>
          </a:p>
        </p:txBody>
      </p:sp>
      <p:sp>
        <p:nvSpPr>
          <p:cNvPr id="19" name="TextBox 18"/>
          <p:cNvSpPr txBox="1"/>
          <p:nvPr/>
        </p:nvSpPr>
        <p:spPr>
          <a:xfrm>
            <a:off x="7479792" y="2011680"/>
            <a:ext cx="2103120" cy="914400"/>
          </a:xfrm>
          <a:prstGeom prst="rect">
            <a:avLst/>
          </a:prstGeom>
          <a:noFill/>
        </p:spPr>
        <p:txBody>
          <a:bodyPr wrap="square">
            <a:spAutoFit/>
          </a:bodyPr>
          <a:lstStyle/>
          <a:p>
            <a:pPr algn="ctr"/>
            <a:r>
              <a:rPr sz="1100" b="0" i="0">
                <a:solidFill>
                  <a:srgbClr val="FFFFFF"/>
                </a:solidFill>
              </a:rPr>
              <a:t>Tactic search
+ LLM fallback</a:t>
            </a:r>
          </a:p>
        </p:txBody>
      </p:sp>
      <p:sp>
        <p:nvSpPr>
          <p:cNvPr id="20" name="TextBox 19"/>
          <p:cNvSpPr txBox="1"/>
          <p:nvPr/>
        </p:nvSpPr>
        <p:spPr>
          <a:xfrm>
            <a:off x="9582912" y="1828800"/>
            <a:ext cx="237744" cy="548640"/>
          </a:xfrm>
          <a:prstGeom prst="rect">
            <a:avLst/>
          </a:prstGeom>
          <a:noFill/>
        </p:spPr>
        <p:txBody>
          <a:bodyPr wrap="square">
            <a:spAutoFit/>
          </a:bodyPr>
          <a:lstStyle/>
          <a:p>
            <a:pPr algn="ctr"/>
            <a:r>
              <a:rPr sz="2200" b="1" i="0">
                <a:solidFill>
                  <a:srgbClr val="64748B"/>
                </a:solidFill>
              </a:rPr>
              <a:t>→</a:t>
            </a:r>
          </a:p>
        </p:txBody>
      </p:sp>
      <p:sp>
        <p:nvSpPr>
          <p:cNvPr id="21" name="Rectangle 20"/>
          <p:cNvSpPr/>
          <p:nvPr/>
        </p:nvSpPr>
        <p:spPr>
          <a:xfrm>
            <a:off x="9820656" y="1463040"/>
            <a:ext cx="2103120" cy="1554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20656" y="1508760"/>
            <a:ext cx="2103120" cy="502920"/>
          </a:xfrm>
          <a:prstGeom prst="rect">
            <a:avLst/>
          </a:prstGeom>
          <a:noFill/>
        </p:spPr>
        <p:txBody>
          <a:bodyPr wrap="square">
            <a:spAutoFit/>
          </a:bodyPr>
          <a:lstStyle/>
          <a:p>
            <a:pPr algn="ctr"/>
            <a:r>
              <a:rPr sz="1300" b="1" i="0">
                <a:solidFill>
                  <a:srgbClr val="FFFFFF"/>
                </a:solidFill>
              </a:rPr>
              <a:t>5  Certifier</a:t>
            </a:r>
          </a:p>
        </p:txBody>
      </p:sp>
      <p:sp>
        <p:nvSpPr>
          <p:cNvPr id="23" name="TextBox 22"/>
          <p:cNvSpPr txBox="1"/>
          <p:nvPr/>
        </p:nvSpPr>
        <p:spPr>
          <a:xfrm>
            <a:off x="9820656" y="2011680"/>
            <a:ext cx="2103120" cy="914400"/>
          </a:xfrm>
          <a:prstGeom prst="rect">
            <a:avLst/>
          </a:prstGeom>
          <a:noFill/>
        </p:spPr>
        <p:txBody>
          <a:bodyPr wrap="square">
            <a:spAutoFit/>
          </a:bodyPr>
          <a:lstStyle/>
          <a:p>
            <a:pPr algn="ctr"/>
            <a:r>
              <a:rPr sz="1100" b="0" i="0">
                <a:solidFill>
                  <a:srgbClr val="FFFFFF"/>
                </a:solidFill>
              </a:rPr>
              <a:t>SHA-256 cert
per result</a:t>
            </a:r>
          </a:p>
        </p:txBody>
      </p:sp>
      <p:sp>
        <p:nvSpPr>
          <p:cNvPr id="24" name="Rectangle 23"/>
          <p:cNvSpPr/>
          <p:nvPr/>
        </p:nvSpPr>
        <p:spPr>
          <a:xfrm>
            <a:off x="365760" y="3337560"/>
            <a:ext cx="5394960" cy="3108960"/>
          </a:xfrm>
          <a:prstGeom prst="rect">
            <a:avLst/>
          </a:prstGeom>
          <a:solidFill>
            <a:srgbClr val="0B1A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3383280"/>
            <a:ext cx="5029200" cy="365760"/>
          </a:xfrm>
          <a:prstGeom prst="rect">
            <a:avLst/>
          </a:prstGeom>
          <a:noFill/>
        </p:spPr>
        <p:txBody>
          <a:bodyPr wrap="square">
            <a:spAutoFit/>
          </a:bodyPr>
          <a:lstStyle/>
          <a:p>
            <a:pPr algn="l"/>
            <a:r>
              <a:rPr sz="1200" b="1" i="0">
                <a:solidFill>
                  <a:srgbClr val="3B82F6"/>
                </a:solidFill>
              </a:rPr>
              <a:t>Python Usage</a:t>
            </a:r>
          </a:p>
        </p:txBody>
      </p:sp>
      <p:sp>
        <p:nvSpPr>
          <p:cNvPr id="26" name="TextBox 25"/>
          <p:cNvSpPr txBox="1"/>
          <p:nvPr/>
        </p:nvSpPr>
        <p:spPr>
          <a:xfrm>
            <a:off x="502920" y="3749039"/>
            <a:ext cx="5212080" cy="2606040"/>
          </a:xfrm>
          <a:prstGeom prst="rect">
            <a:avLst/>
          </a:prstGeom>
          <a:noFill/>
        </p:spPr>
        <p:txBody>
          <a:bodyPr wrap="square">
            <a:spAutoFit/>
          </a:bodyPr>
          <a:lstStyle/>
          <a:p>
            <a:pPr algn="l"/>
            <a:r>
              <a:rPr sz="1000" b="0" i="1">
                <a:solidFill>
                  <a:srgbClr val="06B6D4"/>
                </a:solidFill>
              </a:rPr>
              <a:t>from verified_eda.pipeline import VerifiedEDA
from verified_eda.agents.orchestrator import Orchestrator
eda = VerifiedEDA(data, columns=['sales','cost'])
eda.run()
orch = Orchestrator()
orch.verify(eda)
# Every result now has proof_status='proven'
print(eda.report.summary())</a:t>
            </a:r>
          </a:p>
        </p:txBody>
      </p:sp>
      <p:sp>
        <p:nvSpPr>
          <p:cNvPr id="27" name="Rectangle 26"/>
          <p:cNvSpPr/>
          <p:nvPr/>
        </p:nvSpPr>
        <p:spPr>
          <a:xfrm>
            <a:off x="6126480" y="3337560"/>
            <a:ext cx="5760720" cy="3108960"/>
          </a:xfrm>
          <a:prstGeom prst="rect">
            <a:avLst/>
          </a:prstGeom>
          <a:solidFill>
            <a:srgbClr val="0B1A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63640" y="3383280"/>
            <a:ext cx="5394960" cy="365760"/>
          </a:xfrm>
          <a:prstGeom prst="rect">
            <a:avLst/>
          </a:prstGeom>
          <a:noFill/>
        </p:spPr>
        <p:txBody>
          <a:bodyPr wrap="square">
            <a:spAutoFit/>
          </a:bodyPr>
          <a:lstStyle/>
          <a:p>
            <a:pPr algn="l"/>
            <a:r>
              <a:rPr sz="1200" b="1" i="0">
                <a:solidFill>
                  <a:srgbClr val="10B981"/>
                </a:solidFill>
              </a:rPr>
              <a:t>Output</a:t>
            </a:r>
          </a:p>
        </p:txBody>
      </p:sp>
      <p:sp>
        <p:nvSpPr>
          <p:cNvPr id="29" name="TextBox 28"/>
          <p:cNvSpPr txBox="1"/>
          <p:nvPr/>
        </p:nvSpPr>
        <p:spPr>
          <a:xfrm>
            <a:off x="6263640" y="3749039"/>
            <a:ext cx="5577840" cy="2606040"/>
          </a:xfrm>
          <a:prstGeom prst="rect">
            <a:avLst/>
          </a:prstGeom>
          <a:noFill/>
        </p:spPr>
        <p:txBody>
          <a:bodyPr wrap="square">
            <a:spAutoFit/>
          </a:bodyPr>
          <a:lstStyle/>
          <a:p>
            <a:pPr algn="l"/>
            <a:r>
              <a:rPr sz="1000" b="0" i="1">
                <a:solidFill>
                  <a:srgbClr val="10B981"/>
                </a:solidFill>
              </a:rPr>
              <a:t>═══ Verified EDA Report ═══
Dataset: 200 rows × 2 columns
Verification: 14/14 proven
Status: fully_verified
── sales ──
  ✓       mean = 4823.12  [mean_correct]
  ✓   variance = 1204.88  [variance_nonneg]
  ✓        std =   34.71  [std_nonneg]
  ✓     median = 4800.00  [median_in_range]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594360"/>
          </a:xfrm>
          <a:prstGeom prst="rect">
            <a:avLst/>
          </a:prstGeom>
          <a:noFill/>
        </p:spPr>
        <p:txBody>
          <a:bodyPr wrap="square">
            <a:spAutoFit/>
          </a:bodyPr>
          <a:lstStyle/>
          <a:p>
            <a:pPr algn="l"/>
            <a:r>
              <a:rPr sz="3200" b="1" i="0">
                <a:solidFill>
                  <a:srgbClr val="FFFFFF"/>
                </a:solidFill>
              </a:rPr>
              <a:t>System Architecture</a:t>
            </a:r>
          </a:p>
        </p:txBody>
      </p:sp>
      <p:sp>
        <p:nvSpPr>
          <p:cNvPr id="4" name="TextBox 3"/>
          <p:cNvSpPr txBox="1"/>
          <p:nvPr/>
        </p:nvSpPr>
        <p:spPr>
          <a:xfrm>
            <a:off x="457200" y="713232"/>
            <a:ext cx="10972800" cy="347472"/>
          </a:xfrm>
          <a:prstGeom prst="rect">
            <a:avLst/>
          </a:prstGeom>
          <a:noFill/>
        </p:spPr>
        <p:txBody>
          <a:bodyPr wrap="square">
            <a:spAutoFit/>
          </a:bodyPr>
          <a:lstStyle/>
          <a:p>
            <a:pPr algn="l"/>
            <a:r>
              <a:rPr sz="1400" b="0" i="0">
                <a:solidFill>
                  <a:srgbClr val="A85CFF"/>
                </a:solidFill>
              </a:rPr>
              <a:t>Three-layer design: Computation  →  Verification  →  Orchestration</a:t>
            </a:r>
          </a:p>
        </p:txBody>
      </p:sp>
      <p:sp>
        <p:nvSpPr>
          <p:cNvPr id="5" name="Rectangle 4"/>
          <p:cNvSpPr/>
          <p:nvPr/>
        </p:nvSpPr>
        <p:spPr>
          <a:xfrm>
            <a:off x="274320" y="1170432"/>
            <a:ext cx="11612880" cy="1572768"/>
          </a:xfrm>
          <a:prstGeom prst="rect">
            <a:avLst/>
          </a:prstGeom>
          <a:solidFill>
            <a:srgbClr val="1A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70432"/>
            <a:ext cx="11612880" cy="3474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97864"/>
            <a:ext cx="10972800" cy="310896"/>
          </a:xfrm>
          <a:prstGeom prst="rect">
            <a:avLst/>
          </a:prstGeom>
          <a:noFill/>
        </p:spPr>
        <p:txBody>
          <a:bodyPr wrap="square">
            <a:spAutoFit/>
          </a:bodyPr>
          <a:lstStyle/>
          <a:p>
            <a:pPr algn="l"/>
            <a:r>
              <a:rPr sz="1200" b="1" i="0">
                <a:solidFill>
                  <a:srgbClr val="FFFFFF"/>
                </a:solidFill>
              </a:rPr>
              <a:t>Layer 3  —  Orchestration  (Agentic AI · Claude · Azure OpenAI)</a:t>
            </a:r>
          </a:p>
        </p:txBody>
      </p:sp>
      <p:sp>
        <p:nvSpPr>
          <p:cNvPr id="8" name="Rectangle 7"/>
          <p:cNvSpPr/>
          <p:nvPr/>
        </p:nvSpPr>
        <p:spPr>
          <a:xfrm>
            <a:off x="502920" y="1609344"/>
            <a:ext cx="2606040" cy="868680"/>
          </a:xfrm>
          <a:prstGeom prst="rect">
            <a:avLst/>
          </a:prstGeom>
          <a:solidFill>
            <a:srgbClr val="0D1117"/>
          </a:solidFill>
          <a:ln w="1143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645920"/>
            <a:ext cx="2606040" cy="347472"/>
          </a:xfrm>
          <a:prstGeom prst="rect">
            <a:avLst/>
          </a:prstGeom>
          <a:noFill/>
        </p:spPr>
        <p:txBody>
          <a:bodyPr wrap="square">
            <a:spAutoFit/>
          </a:bodyPr>
          <a:lstStyle/>
          <a:p>
            <a:pPr algn="ctr"/>
            <a:r>
              <a:rPr sz="1100" b="1" i="0">
                <a:solidFill>
                  <a:srgbClr val="06B6D4"/>
                </a:solidFill>
              </a:rPr>
              <a:t>Translator Agent</a:t>
            </a:r>
          </a:p>
        </p:txBody>
      </p:sp>
      <p:sp>
        <p:nvSpPr>
          <p:cNvPr id="10" name="TextBox 9"/>
          <p:cNvSpPr txBox="1"/>
          <p:nvPr/>
        </p:nvSpPr>
        <p:spPr>
          <a:xfrm>
            <a:off x="502920" y="2011680"/>
            <a:ext cx="2606040" cy="411480"/>
          </a:xfrm>
          <a:prstGeom prst="rect">
            <a:avLst/>
          </a:prstGeom>
          <a:noFill/>
        </p:spPr>
        <p:txBody>
          <a:bodyPr wrap="square">
            <a:spAutoFit/>
          </a:bodyPr>
          <a:lstStyle/>
          <a:p>
            <a:pPr algn="ctr"/>
            <a:r>
              <a:rPr sz="900" b="0" i="1">
                <a:solidFill>
                  <a:srgbClr val="CBD5E1"/>
                </a:solidFill>
              </a:rPr>
              <a:t>Python AST  →  Lean 4 definitions</a:t>
            </a:r>
          </a:p>
        </p:txBody>
      </p:sp>
      <p:sp>
        <p:nvSpPr>
          <p:cNvPr id="11" name="Rectangle 10"/>
          <p:cNvSpPr/>
          <p:nvPr/>
        </p:nvSpPr>
        <p:spPr>
          <a:xfrm>
            <a:off x="3291839" y="1609344"/>
            <a:ext cx="2606040" cy="868680"/>
          </a:xfrm>
          <a:prstGeom prst="rect">
            <a:avLst/>
          </a:prstGeom>
          <a:solidFill>
            <a:srgbClr val="0D1117"/>
          </a:solidFill>
          <a:ln w="1143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39" y="1645920"/>
            <a:ext cx="2606040" cy="347472"/>
          </a:xfrm>
          <a:prstGeom prst="rect">
            <a:avLst/>
          </a:prstGeom>
          <a:noFill/>
        </p:spPr>
        <p:txBody>
          <a:bodyPr wrap="square">
            <a:spAutoFit/>
          </a:bodyPr>
          <a:lstStyle/>
          <a:p>
            <a:pPr algn="ctr"/>
            <a:r>
              <a:rPr sz="1100" b="1" i="0">
                <a:solidFill>
                  <a:srgbClr val="F59E0B"/>
                </a:solidFill>
              </a:rPr>
              <a:t>Prover Agent</a:t>
            </a:r>
          </a:p>
        </p:txBody>
      </p:sp>
      <p:sp>
        <p:nvSpPr>
          <p:cNvPr id="13" name="TextBox 12"/>
          <p:cNvSpPr txBox="1"/>
          <p:nvPr/>
        </p:nvSpPr>
        <p:spPr>
          <a:xfrm>
            <a:off x="3291839" y="2011680"/>
            <a:ext cx="2606040" cy="411480"/>
          </a:xfrm>
          <a:prstGeom prst="rect">
            <a:avLst/>
          </a:prstGeom>
          <a:noFill/>
        </p:spPr>
        <p:txBody>
          <a:bodyPr wrap="square">
            <a:spAutoFit/>
          </a:bodyPr>
          <a:lstStyle/>
          <a:p>
            <a:pPr algn="ctr"/>
            <a:r>
              <a:rPr sz="900" b="0" i="1">
                <a:solidFill>
                  <a:srgbClr val="CBD5E1"/>
                </a:solidFill>
              </a:rPr>
              <a:t>Tactic search + LLM fallback</a:t>
            </a:r>
          </a:p>
        </p:txBody>
      </p:sp>
      <p:sp>
        <p:nvSpPr>
          <p:cNvPr id="14" name="Rectangle 13"/>
          <p:cNvSpPr/>
          <p:nvPr/>
        </p:nvSpPr>
        <p:spPr>
          <a:xfrm>
            <a:off x="6080759" y="1609344"/>
            <a:ext cx="2606040" cy="868680"/>
          </a:xfrm>
          <a:prstGeom prst="rect">
            <a:avLst/>
          </a:prstGeom>
          <a:solidFill>
            <a:srgbClr val="0D1117"/>
          </a:solidFill>
          <a:ln w="1143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59" y="1645920"/>
            <a:ext cx="2606040" cy="347472"/>
          </a:xfrm>
          <a:prstGeom prst="rect">
            <a:avLst/>
          </a:prstGeom>
          <a:noFill/>
        </p:spPr>
        <p:txBody>
          <a:bodyPr wrap="square">
            <a:spAutoFit/>
          </a:bodyPr>
          <a:lstStyle/>
          <a:p>
            <a:pPr algn="ctr"/>
            <a:r>
              <a:rPr sz="1100" b="1" i="0">
                <a:solidFill>
                  <a:srgbClr val="10B981"/>
                </a:solidFill>
              </a:rPr>
              <a:t>Certifier Agent</a:t>
            </a:r>
          </a:p>
        </p:txBody>
      </p:sp>
      <p:sp>
        <p:nvSpPr>
          <p:cNvPr id="16" name="TextBox 15"/>
          <p:cNvSpPr txBox="1"/>
          <p:nvPr/>
        </p:nvSpPr>
        <p:spPr>
          <a:xfrm>
            <a:off x="6080759" y="2011680"/>
            <a:ext cx="2606040" cy="411480"/>
          </a:xfrm>
          <a:prstGeom prst="rect">
            <a:avLst/>
          </a:prstGeom>
          <a:noFill/>
        </p:spPr>
        <p:txBody>
          <a:bodyPr wrap="square">
            <a:spAutoFit/>
          </a:bodyPr>
          <a:lstStyle/>
          <a:p>
            <a:pPr algn="ctr"/>
            <a:r>
              <a:rPr sz="900" b="0" i="1">
                <a:solidFill>
                  <a:srgbClr val="CBD5E1"/>
                </a:solidFill>
              </a:rPr>
              <a:t>SHA-256 tamper-evident certificate</a:t>
            </a:r>
          </a:p>
        </p:txBody>
      </p:sp>
      <p:sp>
        <p:nvSpPr>
          <p:cNvPr id="17" name="Rectangle 16"/>
          <p:cNvSpPr/>
          <p:nvPr/>
        </p:nvSpPr>
        <p:spPr>
          <a:xfrm>
            <a:off x="8869680" y="1609344"/>
            <a:ext cx="2606040" cy="868680"/>
          </a:xfrm>
          <a:prstGeom prst="rect">
            <a:avLst/>
          </a:prstGeom>
          <a:solidFill>
            <a:srgbClr val="0D1117"/>
          </a:solidFill>
          <a:ln w="1143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0" y="1645920"/>
            <a:ext cx="2606040" cy="347472"/>
          </a:xfrm>
          <a:prstGeom prst="rect">
            <a:avLst/>
          </a:prstGeom>
          <a:noFill/>
        </p:spPr>
        <p:txBody>
          <a:bodyPr wrap="square">
            <a:spAutoFit/>
          </a:bodyPr>
          <a:lstStyle/>
          <a:p>
            <a:pPr algn="ctr"/>
            <a:r>
              <a:rPr sz="1100" b="1" i="0">
                <a:solidFill>
                  <a:srgbClr val="A85CFF"/>
                </a:solidFill>
              </a:rPr>
              <a:t>Orchestrator</a:t>
            </a:r>
          </a:p>
        </p:txBody>
      </p:sp>
      <p:sp>
        <p:nvSpPr>
          <p:cNvPr id="19" name="TextBox 18"/>
          <p:cNvSpPr txBox="1"/>
          <p:nvPr/>
        </p:nvSpPr>
        <p:spPr>
          <a:xfrm>
            <a:off x="8869680" y="2011680"/>
            <a:ext cx="2606040" cy="411480"/>
          </a:xfrm>
          <a:prstGeom prst="rect">
            <a:avLst/>
          </a:prstGeom>
          <a:noFill/>
        </p:spPr>
        <p:txBody>
          <a:bodyPr wrap="square">
            <a:spAutoFit/>
          </a:bodyPr>
          <a:lstStyle/>
          <a:p>
            <a:pPr algn="ctr"/>
            <a:r>
              <a:rPr sz="900" b="0" i="1">
                <a:solidFill>
                  <a:srgbClr val="CBD5E1"/>
                </a:solidFill>
              </a:rPr>
              <a:t>Master controller &amp; event streaming</a:t>
            </a:r>
          </a:p>
        </p:txBody>
      </p:sp>
      <p:sp>
        <p:nvSpPr>
          <p:cNvPr id="20" name="TextBox 19"/>
          <p:cNvSpPr txBox="1"/>
          <p:nvPr/>
        </p:nvSpPr>
        <p:spPr>
          <a:xfrm>
            <a:off x="5715000" y="2816352"/>
            <a:ext cx="749808" cy="384048"/>
          </a:xfrm>
          <a:prstGeom prst="rect">
            <a:avLst/>
          </a:prstGeom>
          <a:noFill/>
        </p:spPr>
        <p:txBody>
          <a:bodyPr wrap="square">
            <a:spAutoFit/>
          </a:bodyPr>
          <a:lstStyle/>
          <a:p>
            <a:pPr algn="ctr"/>
            <a:r>
              <a:rPr sz="2000" b="1" i="0">
                <a:solidFill>
                  <a:srgbClr val="64748B"/>
                </a:solidFill>
              </a:rPr>
              <a:t>⇅</a:t>
            </a:r>
          </a:p>
        </p:txBody>
      </p:sp>
      <p:sp>
        <p:nvSpPr>
          <p:cNvPr id="21" name="TextBox 20"/>
          <p:cNvSpPr txBox="1"/>
          <p:nvPr/>
        </p:nvSpPr>
        <p:spPr>
          <a:xfrm>
            <a:off x="3200400" y="2834640"/>
            <a:ext cx="5788152" cy="329184"/>
          </a:xfrm>
          <a:prstGeom prst="rect">
            <a:avLst/>
          </a:prstGeom>
          <a:noFill/>
        </p:spPr>
        <p:txBody>
          <a:bodyPr wrap="square">
            <a:spAutoFit/>
          </a:bodyPr>
          <a:lstStyle/>
          <a:p>
            <a:pPr algn="ctr"/>
            <a:r>
              <a:rPr sz="900" b="0" i="1">
                <a:solidFill>
                  <a:srgbClr val="64748B"/>
                </a:solidFill>
              </a:rPr>
              <a:t>proof obligations  /  verification certificates</a:t>
            </a:r>
          </a:p>
        </p:txBody>
      </p:sp>
      <p:sp>
        <p:nvSpPr>
          <p:cNvPr id="22" name="Rectangle 21"/>
          <p:cNvSpPr/>
          <p:nvPr/>
        </p:nvSpPr>
        <p:spPr>
          <a:xfrm>
            <a:off x="274320" y="3218688"/>
            <a:ext cx="11612880" cy="1600200"/>
          </a:xfrm>
          <a:prstGeom prst="rect">
            <a:avLst/>
          </a:prstGeom>
          <a:solidFill>
            <a:srgbClr val="17152E"/>
          </a:solidFill>
          <a:ln w="1905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3218688"/>
            <a:ext cx="11612880" cy="347472"/>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246120"/>
            <a:ext cx="10972800" cy="310896"/>
          </a:xfrm>
          <a:prstGeom prst="rect">
            <a:avLst/>
          </a:prstGeom>
          <a:noFill/>
        </p:spPr>
        <p:txBody>
          <a:bodyPr wrap="square">
            <a:spAutoFit/>
          </a:bodyPr>
          <a:lstStyle/>
          <a:p>
            <a:pPr algn="l"/>
            <a:r>
              <a:rPr sz="1200" b="1" i="0">
                <a:solidFill>
                  <a:srgbClr val="FFFFFF"/>
                </a:solidFill>
              </a:rPr>
              <a:t>Layer 2  —  Specification / Verification  (Lean 4 · Mathlib)</a:t>
            </a:r>
          </a:p>
        </p:txBody>
      </p:sp>
      <p:sp>
        <p:nvSpPr>
          <p:cNvPr id="25" name="Rectangle 24"/>
          <p:cNvSpPr/>
          <p:nvPr/>
        </p:nvSpPr>
        <p:spPr>
          <a:xfrm>
            <a:off x="502920" y="3657600"/>
            <a:ext cx="2606040" cy="868680"/>
          </a:xfrm>
          <a:prstGeom prst="rect">
            <a:avLst/>
          </a:prstGeom>
          <a:solidFill>
            <a:srgbClr val="0D1117"/>
          </a:solidFill>
          <a:ln w="1143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3694176"/>
            <a:ext cx="2606040" cy="329184"/>
          </a:xfrm>
          <a:prstGeom prst="rect">
            <a:avLst/>
          </a:prstGeom>
          <a:noFill/>
        </p:spPr>
        <p:txBody>
          <a:bodyPr wrap="square">
            <a:spAutoFit/>
          </a:bodyPr>
          <a:lstStyle/>
          <a:p>
            <a:pPr algn="ctr"/>
            <a:r>
              <a:rPr sz="1000" b="1" i="0">
                <a:solidFill>
                  <a:srgbClr val="06B6D4"/>
                </a:solidFill>
              </a:rPr>
              <a:t>variance_nonneg</a:t>
            </a:r>
          </a:p>
        </p:txBody>
      </p:sp>
      <p:sp>
        <p:nvSpPr>
          <p:cNvPr id="27" name="TextBox 26"/>
          <p:cNvSpPr txBox="1"/>
          <p:nvPr/>
        </p:nvSpPr>
        <p:spPr>
          <a:xfrm>
            <a:off x="502920" y="4023360"/>
            <a:ext cx="2606040" cy="256032"/>
          </a:xfrm>
          <a:prstGeom prst="rect">
            <a:avLst/>
          </a:prstGeom>
          <a:noFill/>
        </p:spPr>
        <p:txBody>
          <a:bodyPr wrap="square">
            <a:spAutoFit/>
          </a:bodyPr>
          <a:lstStyle/>
          <a:p>
            <a:pPr algn="ctr"/>
            <a:r>
              <a:rPr sz="900" b="0" i="0">
                <a:solidFill>
                  <a:srgbClr val="CBD5E1"/>
                </a:solidFill>
              </a:rPr>
              <a:t>variance(xs) ≥ 0</a:t>
            </a:r>
          </a:p>
        </p:txBody>
      </p:sp>
      <p:sp>
        <p:nvSpPr>
          <p:cNvPr id="28" name="TextBox 27"/>
          <p:cNvSpPr txBox="1"/>
          <p:nvPr/>
        </p:nvSpPr>
        <p:spPr>
          <a:xfrm>
            <a:off x="502920" y="4261104"/>
            <a:ext cx="2606040" cy="237744"/>
          </a:xfrm>
          <a:prstGeom prst="rect">
            <a:avLst/>
          </a:prstGeom>
          <a:noFill/>
        </p:spPr>
        <p:txBody>
          <a:bodyPr wrap="square">
            <a:spAutoFit/>
          </a:bodyPr>
          <a:lstStyle/>
          <a:p>
            <a:pPr algn="ctr"/>
            <a:r>
              <a:rPr sz="900" b="1" i="0">
                <a:solidFill>
                  <a:srgbClr val="10B981"/>
                </a:solidFill>
              </a:rPr>
              <a:t>✓ proven</a:t>
            </a:r>
          </a:p>
        </p:txBody>
      </p:sp>
      <p:sp>
        <p:nvSpPr>
          <p:cNvPr id="29" name="Rectangle 28"/>
          <p:cNvSpPr/>
          <p:nvPr/>
        </p:nvSpPr>
        <p:spPr>
          <a:xfrm>
            <a:off x="3291839" y="3657600"/>
            <a:ext cx="2606040" cy="868680"/>
          </a:xfrm>
          <a:prstGeom prst="rect">
            <a:avLst/>
          </a:prstGeom>
          <a:solidFill>
            <a:srgbClr val="0D1117"/>
          </a:solidFill>
          <a:ln w="1143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91839" y="3694176"/>
            <a:ext cx="2606040" cy="329184"/>
          </a:xfrm>
          <a:prstGeom prst="rect">
            <a:avLst/>
          </a:prstGeom>
          <a:noFill/>
        </p:spPr>
        <p:txBody>
          <a:bodyPr wrap="square">
            <a:spAutoFit/>
          </a:bodyPr>
          <a:lstStyle/>
          <a:p>
            <a:pPr algn="ctr"/>
            <a:r>
              <a:rPr sz="1000" b="1" i="0">
                <a:solidFill>
                  <a:srgbClr val="06B6D4"/>
                </a:solidFill>
              </a:rPr>
              <a:t>sqDiff_nonneg</a:t>
            </a:r>
          </a:p>
        </p:txBody>
      </p:sp>
      <p:sp>
        <p:nvSpPr>
          <p:cNvPr id="31" name="TextBox 30"/>
          <p:cNvSpPr txBox="1"/>
          <p:nvPr/>
        </p:nvSpPr>
        <p:spPr>
          <a:xfrm>
            <a:off x="3291839" y="4023360"/>
            <a:ext cx="2606040" cy="256032"/>
          </a:xfrm>
          <a:prstGeom prst="rect">
            <a:avLst/>
          </a:prstGeom>
          <a:noFill/>
        </p:spPr>
        <p:txBody>
          <a:bodyPr wrap="square">
            <a:spAutoFit/>
          </a:bodyPr>
          <a:lstStyle/>
          <a:p>
            <a:pPr algn="ctr"/>
            <a:r>
              <a:rPr sz="900" b="0" i="0">
                <a:solidFill>
                  <a:srgbClr val="CBD5E1"/>
                </a:solidFill>
              </a:rPr>
              <a:t>(x − c)² ≥ 0</a:t>
            </a:r>
          </a:p>
        </p:txBody>
      </p:sp>
      <p:sp>
        <p:nvSpPr>
          <p:cNvPr id="32" name="TextBox 31"/>
          <p:cNvSpPr txBox="1"/>
          <p:nvPr/>
        </p:nvSpPr>
        <p:spPr>
          <a:xfrm>
            <a:off x="3291839" y="4261104"/>
            <a:ext cx="2606040" cy="237744"/>
          </a:xfrm>
          <a:prstGeom prst="rect">
            <a:avLst/>
          </a:prstGeom>
          <a:noFill/>
        </p:spPr>
        <p:txBody>
          <a:bodyPr wrap="square">
            <a:spAutoFit/>
          </a:bodyPr>
          <a:lstStyle/>
          <a:p>
            <a:pPr algn="ctr"/>
            <a:r>
              <a:rPr sz="900" b="1" i="0">
                <a:solidFill>
                  <a:srgbClr val="10B981"/>
                </a:solidFill>
              </a:rPr>
              <a:t>✓ proven</a:t>
            </a:r>
          </a:p>
        </p:txBody>
      </p:sp>
      <p:sp>
        <p:nvSpPr>
          <p:cNvPr id="33" name="Rectangle 32"/>
          <p:cNvSpPr/>
          <p:nvPr/>
        </p:nvSpPr>
        <p:spPr>
          <a:xfrm>
            <a:off x="6080759" y="3657600"/>
            <a:ext cx="2606040" cy="868680"/>
          </a:xfrm>
          <a:prstGeom prst="rect">
            <a:avLst/>
          </a:prstGeom>
          <a:solidFill>
            <a:srgbClr val="0D1117"/>
          </a:solidFill>
          <a:ln w="1143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80759" y="3694176"/>
            <a:ext cx="2606040" cy="329184"/>
          </a:xfrm>
          <a:prstGeom prst="rect">
            <a:avLst/>
          </a:prstGeom>
          <a:noFill/>
        </p:spPr>
        <p:txBody>
          <a:bodyPr wrap="square">
            <a:spAutoFit/>
          </a:bodyPr>
          <a:lstStyle/>
          <a:p>
            <a:pPr algn="ctr"/>
            <a:r>
              <a:rPr sz="1000" b="1" i="0">
                <a:solidFill>
                  <a:srgbClr val="06B6D4"/>
                </a:solidFill>
              </a:rPr>
              <a:t>innerProd_self_nonneg</a:t>
            </a:r>
          </a:p>
        </p:txBody>
      </p:sp>
      <p:sp>
        <p:nvSpPr>
          <p:cNvPr id="35" name="TextBox 34"/>
          <p:cNvSpPr txBox="1"/>
          <p:nvPr/>
        </p:nvSpPr>
        <p:spPr>
          <a:xfrm>
            <a:off x="6080759" y="4023360"/>
            <a:ext cx="2606040" cy="256032"/>
          </a:xfrm>
          <a:prstGeom prst="rect">
            <a:avLst/>
          </a:prstGeom>
          <a:noFill/>
        </p:spPr>
        <p:txBody>
          <a:bodyPr wrap="square">
            <a:spAutoFit/>
          </a:bodyPr>
          <a:lstStyle/>
          <a:p>
            <a:pPr algn="ctr"/>
            <a:r>
              <a:rPr sz="900" b="0" i="0">
                <a:solidFill>
                  <a:srgbClr val="CBD5E1"/>
                </a:solidFill>
              </a:rPr>
              <a:t>⟨xs, xs⟩ ≥ 0</a:t>
            </a:r>
          </a:p>
        </p:txBody>
      </p:sp>
      <p:sp>
        <p:nvSpPr>
          <p:cNvPr id="36" name="TextBox 35"/>
          <p:cNvSpPr txBox="1"/>
          <p:nvPr/>
        </p:nvSpPr>
        <p:spPr>
          <a:xfrm>
            <a:off x="6080759" y="4261104"/>
            <a:ext cx="2606040" cy="237744"/>
          </a:xfrm>
          <a:prstGeom prst="rect">
            <a:avLst/>
          </a:prstGeom>
          <a:noFill/>
        </p:spPr>
        <p:txBody>
          <a:bodyPr wrap="square">
            <a:spAutoFit/>
          </a:bodyPr>
          <a:lstStyle/>
          <a:p>
            <a:pPr algn="ctr"/>
            <a:r>
              <a:rPr sz="900" b="1" i="0">
                <a:solidFill>
                  <a:srgbClr val="10B981"/>
                </a:solidFill>
              </a:rPr>
              <a:t>✓ proven</a:t>
            </a:r>
          </a:p>
        </p:txBody>
      </p:sp>
      <p:sp>
        <p:nvSpPr>
          <p:cNvPr id="37" name="Rectangle 36"/>
          <p:cNvSpPr/>
          <p:nvPr/>
        </p:nvSpPr>
        <p:spPr>
          <a:xfrm>
            <a:off x="8869680" y="3657600"/>
            <a:ext cx="2606040" cy="868680"/>
          </a:xfrm>
          <a:prstGeom prst="rect">
            <a:avLst/>
          </a:prstGeom>
          <a:solidFill>
            <a:srgbClr val="0D1117"/>
          </a:solidFill>
          <a:ln w="1143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869680" y="3694176"/>
            <a:ext cx="2606040" cy="329184"/>
          </a:xfrm>
          <a:prstGeom prst="rect">
            <a:avLst/>
          </a:prstGeom>
          <a:noFill/>
        </p:spPr>
        <p:txBody>
          <a:bodyPr wrap="square">
            <a:spAutoFit/>
          </a:bodyPr>
          <a:lstStyle/>
          <a:p>
            <a:pPr algn="ctr"/>
            <a:r>
              <a:rPr sz="1000" b="1" i="0">
                <a:solidFill>
                  <a:srgbClr val="06B6D4"/>
                </a:solidFill>
              </a:rPr>
              <a:t>pearson_bounded</a:t>
            </a:r>
          </a:p>
        </p:txBody>
      </p:sp>
      <p:sp>
        <p:nvSpPr>
          <p:cNvPr id="39" name="TextBox 38"/>
          <p:cNvSpPr txBox="1"/>
          <p:nvPr/>
        </p:nvSpPr>
        <p:spPr>
          <a:xfrm>
            <a:off x="8869680" y="4023360"/>
            <a:ext cx="2606040" cy="256032"/>
          </a:xfrm>
          <a:prstGeom prst="rect">
            <a:avLst/>
          </a:prstGeom>
          <a:noFill/>
        </p:spPr>
        <p:txBody>
          <a:bodyPr wrap="square">
            <a:spAutoFit/>
          </a:bodyPr>
          <a:lstStyle/>
          <a:p>
            <a:pPr algn="ctr"/>
            <a:r>
              <a:rPr sz="900" b="0" i="0">
                <a:solidFill>
                  <a:srgbClr val="CBD5E1"/>
                </a:solidFill>
              </a:rPr>
              <a:t>−1 ≤ corr(x,y) ≤ 1</a:t>
            </a:r>
          </a:p>
        </p:txBody>
      </p:sp>
      <p:sp>
        <p:nvSpPr>
          <p:cNvPr id="40" name="TextBox 39"/>
          <p:cNvSpPr txBox="1"/>
          <p:nvPr/>
        </p:nvSpPr>
        <p:spPr>
          <a:xfrm>
            <a:off x="8869680" y="4261104"/>
            <a:ext cx="2606040" cy="237744"/>
          </a:xfrm>
          <a:prstGeom prst="rect">
            <a:avLst/>
          </a:prstGeom>
          <a:noFill/>
        </p:spPr>
        <p:txBody>
          <a:bodyPr wrap="square">
            <a:spAutoFit/>
          </a:bodyPr>
          <a:lstStyle/>
          <a:p>
            <a:pPr algn="ctr"/>
            <a:r>
              <a:rPr sz="900" b="1" i="0">
                <a:solidFill>
                  <a:srgbClr val="F59E0B"/>
                </a:solidFill>
              </a:rPr>
              <a:t>⊡ Cauchy-Schwarz</a:t>
            </a:r>
          </a:p>
        </p:txBody>
      </p:sp>
      <p:sp>
        <p:nvSpPr>
          <p:cNvPr id="41" name="TextBox 40"/>
          <p:cNvSpPr txBox="1"/>
          <p:nvPr/>
        </p:nvSpPr>
        <p:spPr>
          <a:xfrm>
            <a:off x="5715000" y="4882896"/>
            <a:ext cx="749808" cy="384048"/>
          </a:xfrm>
          <a:prstGeom prst="rect">
            <a:avLst/>
          </a:prstGeom>
          <a:noFill/>
        </p:spPr>
        <p:txBody>
          <a:bodyPr wrap="square">
            <a:spAutoFit/>
          </a:bodyPr>
          <a:lstStyle/>
          <a:p>
            <a:pPr algn="ctr"/>
            <a:r>
              <a:rPr sz="2000" b="1" i="0">
                <a:solidFill>
                  <a:srgbClr val="64748B"/>
                </a:solidFill>
              </a:rPr>
              <a:t>⇅</a:t>
            </a:r>
          </a:p>
        </p:txBody>
      </p:sp>
      <p:sp>
        <p:nvSpPr>
          <p:cNvPr id="42" name="TextBox 41"/>
          <p:cNvSpPr txBox="1"/>
          <p:nvPr/>
        </p:nvSpPr>
        <p:spPr>
          <a:xfrm>
            <a:off x="2743200" y="4901184"/>
            <a:ext cx="6702552" cy="329184"/>
          </a:xfrm>
          <a:prstGeom prst="rect">
            <a:avLst/>
          </a:prstGeom>
          <a:noFill/>
        </p:spPr>
        <p:txBody>
          <a:bodyPr wrap="square">
            <a:spAutoFit/>
          </a:bodyPr>
          <a:lstStyle/>
          <a:p>
            <a:pPr algn="ctr"/>
            <a:r>
              <a:rPr sz="900" b="0" i="1">
                <a:solidFill>
                  <a:srgbClr val="64748B"/>
                </a:solidFill>
              </a:rPr>
              <a:t>EDA operations  →  VerifiedResult (value + theorem reference)</a:t>
            </a:r>
          </a:p>
        </p:txBody>
      </p:sp>
      <p:sp>
        <p:nvSpPr>
          <p:cNvPr id="43" name="Rectangle 42"/>
          <p:cNvSpPr/>
          <p:nvPr/>
        </p:nvSpPr>
        <p:spPr>
          <a:xfrm>
            <a:off x="274320" y="5321808"/>
            <a:ext cx="11612880" cy="1371600"/>
          </a:xfrm>
          <a:prstGeom prst="rect">
            <a:avLst/>
          </a:prstGeom>
          <a:solidFill>
            <a:srgbClr val="121C2E"/>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74320" y="5321808"/>
            <a:ext cx="11612880" cy="34747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7200" y="5349240"/>
            <a:ext cx="10972800" cy="310896"/>
          </a:xfrm>
          <a:prstGeom prst="rect">
            <a:avLst/>
          </a:prstGeom>
          <a:noFill/>
        </p:spPr>
        <p:txBody>
          <a:bodyPr wrap="square">
            <a:spAutoFit/>
          </a:bodyPr>
          <a:lstStyle/>
          <a:p>
            <a:pPr algn="l"/>
            <a:r>
              <a:rPr sz="1200" b="1" i="0">
                <a:solidFill>
                  <a:srgbClr val="FFFFFF"/>
                </a:solidFill>
              </a:rPr>
              <a:t>Layer 1  —  Computation  (Python · Pandas · NumPy)</a:t>
            </a:r>
          </a:p>
        </p:txBody>
      </p:sp>
      <p:sp>
        <p:nvSpPr>
          <p:cNvPr id="46" name="Rectangle 45"/>
          <p:cNvSpPr/>
          <p:nvPr/>
        </p:nvSpPr>
        <p:spPr>
          <a:xfrm>
            <a:off x="502920" y="5760720"/>
            <a:ext cx="1691640" cy="685800"/>
          </a:xfrm>
          <a:prstGeom prst="rect">
            <a:avLst/>
          </a:prstGeom>
          <a:solidFill>
            <a:srgbClr val="0D1117"/>
          </a:solidFill>
          <a:ln w="88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02920" y="5760720"/>
            <a:ext cx="1691640" cy="685800"/>
          </a:xfrm>
          <a:prstGeom prst="rect">
            <a:avLst/>
          </a:prstGeom>
          <a:noFill/>
        </p:spPr>
        <p:txBody>
          <a:bodyPr wrap="square">
            <a:spAutoFit/>
          </a:bodyPr>
          <a:lstStyle/>
          <a:p>
            <a:pPr algn="ctr"/>
            <a:r>
              <a:rPr sz="900" b="1" i="0">
                <a:solidFill>
                  <a:srgbClr val="3B82F6"/>
                </a:solidFill>
              </a:rPr>
              <a:t>verified_mean</a:t>
            </a:r>
          </a:p>
        </p:txBody>
      </p:sp>
      <p:sp>
        <p:nvSpPr>
          <p:cNvPr id="48" name="Rectangle 47"/>
          <p:cNvSpPr/>
          <p:nvPr/>
        </p:nvSpPr>
        <p:spPr>
          <a:xfrm>
            <a:off x="2377439" y="5760720"/>
            <a:ext cx="1691640" cy="685800"/>
          </a:xfrm>
          <a:prstGeom prst="rect">
            <a:avLst/>
          </a:prstGeom>
          <a:solidFill>
            <a:srgbClr val="0D1117"/>
          </a:solidFill>
          <a:ln w="88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377439" y="5760720"/>
            <a:ext cx="1691640" cy="685800"/>
          </a:xfrm>
          <a:prstGeom prst="rect">
            <a:avLst/>
          </a:prstGeom>
          <a:noFill/>
        </p:spPr>
        <p:txBody>
          <a:bodyPr wrap="square">
            <a:spAutoFit/>
          </a:bodyPr>
          <a:lstStyle/>
          <a:p>
            <a:pPr algn="ctr"/>
            <a:r>
              <a:rPr sz="900" b="1" i="0">
                <a:solidFill>
                  <a:srgbClr val="3B82F6"/>
                </a:solidFill>
              </a:rPr>
              <a:t>verified_variance</a:t>
            </a:r>
          </a:p>
        </p:txBody>
      </p:sp>
      <p:sp>
        <p:nvSpPr>
          <p:cNvPr id="50" name="Rectangle 49"/>
          <p:cNvSpPr/>
          <p:nvPr/>
        </p:nvSpPr>
        <p:spPr>
          <a:xfrm>
            <a:off x="4251959" y="5760720"/>
            <a:ext cx="1691640" cy="685800"/>
          </a:xfrm>
          <a:prstGeom prst="rect">
            <a:avLst/>
          </a:prstGeom>
          <a:solidFill>
            <a:srgbClr val="0D1117"/>
          </a:solidFill>
          <a:ln w="88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251959" y="5760720"/>
            <a:ext cx="1691640" cy="685800"/>
          </a:xfrm>
          <a:prstGeom prst="rect">
            <a:avLst/>
          </a:prstGeom>
          <a:noFill/>
        </p:spPr>
        <p:txBody>
          <a:bodyPr wrap="square">
            <a:spAutoFit/>
          </a:bodyPr>
          <a:lstStyle/>
          <a:p>
            <a:pPr algn="ctr"/>
            <a:r>
              <a:rPr sz="900" b="1" i="0">
                <a:solidFill>
                  <a:srgbClr val="3B82F6"/>
                </a:solidFill>
              </a:rPr>
              <a:t>verified_std</a:t>
            </a:r>
          </a:p>
        </p:txBody>
      </p:sp>
      <p:sp>
        <p:nvSpPr>
          <p:cNvPr id="52" name="Rectangle 51"/>
          <p:cNvSpPr/>
          <p:nvPr/>
        </p:nvSpPr>
        <p:spPr>
          <a:xfrm>
            <a:off x="6126479" y="5760720"/>
            <a:ext cx="1691640" cy="685800"/>
          </a:xfrm>
          <a:prstGeom prst="rect">
            <a:avLst/>
          </a:prstGeom>
          <a:solidFill>
            <a:srgbClr val="0D1117"/>
          </a:solidFill>
          <a:ln w="88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126479" y="5760720"/>
            <a:ext cx="1691640" cy="685800"/>
          </a:xfrm>
          <a:prstGeom prst="rect">
            <a:avLst/>
          </a:prstGeom>
          <a:noFill/>
        </p:spPr>
        <p:txBody>
          <a:bodyPr wrap="square">
            <a:spAutoFit/>
          </a:bodyPr>
          <a:lstStyle/>
          <a:p>
            <a:pPr algn="ctr"/>
            <a:r>
              <a:rPr sz="900" b="1" i="0">
                <a:solidFill>
                  <a:srgbClr val="3B82F6"/>
                </a:solidFill>
              </a:rPr>
              <a:t>verified_median</a:t>
            </a:r>
          </a:p>
        </p:txBody>
      </p:sp>
      <p:sp>
        <p:nvSpPr>
          <p:cNvPr id="54" name="Rectangle 53"/>
          <p:cNvSpPr/>
          <p:nvPr/>
        </p:nvSpPr>
        <p:spPr>
          <a:xfrm>
            <a:off x="8001000" y="5760720"/>
            <a:ext cx="1691640" cy="685800"/>
          </a:xfrm>
          <a:prstGeom prst="rect">
            <a:avLst/>
          </a:prstGeom>
          <a:solidFill>
            <a:srgbClr val="0D1117"/>
          </a:solidFill>
          <a:ln w="88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001000" y="5760720"/>
            <a:ext cx="1691640" cy="685800"/>
          </a:xfrm>
          <a:prstGeom prst="rect">
            <a:avLst/>
          </a:prstGeom>
          <a:noFill/>
        </p:spPr>
        <p:txBody>
          <a:bodyPr wrap="square">
            <a:spAutoFit/>
          </a:bodyPr>
          <a:lstStyle/>
          <a:p>
            <a:pPr algn="ctr"/>
            <a:r>
              <a:rPr sz="900" b="1" i="0">
                <a:solidFill>
                  <a:srgbClr val="3B82F6"/>
                </a:solidFill>
              </a:rPr>
              <a:t>verified_pearson</a:t>
            </a:r>
          </a:p>
        </p:txBody>
      </p:sp>
      <p:sp>
        <p:nvSpPr>
          <p:cNvPr id="56" name="Rectangle 55"/>
          <p:cNvSpPr/>
          <p:nvPr/>
        </p:nvSpPr>
        <p:spPr>
          <a:xfrm>
            <a:off x="9875520" y="5760720"/>
            <a:ext cx="1691640" cy="685800"/>
          </a:xfrm>
          <a:prstGeom prst="rect">
            <a:avLst/>
          </a:prstGeom>
          <a:solidFill>
            <a:srgbClr val="0D1117"/>
          </a:solidFill>
          <a:ln w="88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875520" y="5760720"/>
            <a:ext cx="1691640" cy="685800"/>
          </a:xfrm>
          <a:prstGeom prst="rect">
            <a:avLst/>
          </a:prstGeom>
          <a:noFill/>
        </p:spPr>
        <p:txBody>
          <a:bodyPr wrap="square">
            <a:spAutoFit/>
          </a:bodyPr>
          <a:lstStyle/>
          <a:p>
            <a:pPr algn="ctr"/>
            <a:r>
              <a:rPr sz="900" b="1" i="0">
                <a:solidFill>
                  <a:srgbClr val="3B82F6"/>
                </a:solidFill>
              </a:rPr>
              <a:t>verified_histogram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Lean 4 Formal Proofs</a:t>
            </a:r>
          </a:p>
        </p:txBody>
      </p:sp>
      <p:sp>
        <p:nvSpPr>
          <p:cNvPr id="4" name="TextBox 3"/>
          <p:cNvSpPr txBox="1"/>
          <p:nvPr/>
        </p:nvSpPr>
        <p:spPr>
          <a:xfrm>
            <a:off x="457200" y="777240"/>
            <a:ext cx="10972800" cy="457200"/>
          </a:xfrm>
          <a:prstGeom prst="rect">
            <a:avLst/>
          </a:prstGeom>
          <a:noFill/>
        </p:spPr>
        <p:txBody>
          <a:bodyPr wrap="square">
            <a:spAutoFit/>
          </a:bodyPr>
          <a:lstStyle/>
          <a:p>
            <a:pPr algn="l"/>
            <a:r>
              <a:rPr sz="1600" b="0" i="0">
                <a:solidFill>
                  <a:srgbClr val="A85CFF"/>
                </a:solidFill>
              </a:rPr>
              <a:t>Machine-checked by the Lean kernel — no trust required</a:t>
            </a:r>
          </a:p>
        </p:txBody>
      </p:sp>
      <p:sp>
        <p:nvSpPr>
          <p:cNvPr id="5" name="Rectangle 4"/>
          <p:cNvSpPr/>
          <p:nvPr/>
        </p:nvSpPr>
        <p:spPr>
          <a:xfrm>
            <a:off x="274320" y="1371600"/>
            <a:ext cx="5486400" cy="5120640"/>
          </a:xfrm>
          <a:prstGeom prst="rect">
            <a:avLst/>
          </a:prstGeom>
          <a:solidFill>
            <a:srgbClr val="161B27"/>
          </a:solidFill>
          <a:ln w="1270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463040"/>
            <a:ext cx="5029200" cy="411480"/>
          </a:xfrm>
          <a:prstGeom prst="rect">
            <a:avLst/>
          </a:prstGeom>
          <a:noFill/>
        </p:spPr>
        <p:txBody>
          <a:bodyPr wrap="square">
            <a:spAutoFit/>
          </a:bodyPr>
          <a:lstStyle/>
          <a:p>
            <a:pPr algn="l"/>
            <a:r>
              <a:rPr sz="1300" b="1" i="0">
                <a:solidFill>
                  <a:srgbClr val="A85CFF"/>
                </a:solidFill>
              </a:rPr>
              <a:t>Proven Theorems</a:t>
            </a:r>
          </a:p>
        </p:txBody>
      </p:sp>
      <p:sp>
        <p:nvSpPr>
          <p:cNvPr id="7" name="TextBox 6"/>
          <p:cNvSpPr txBox="1"/>
          <p:nvPr/>
        </p:nvSpPr>
        <p:spPr>
          <a:xfrm>
            <a:off x="411480" y="1920240"/>
            <a:ext cx="2286000" cy="502920"/>
          </a:xfrm>
          <a:prstGeom prst="rect">
            <a:avLst/>
          </a:prstGeom>
          <a:noFill/>
        </p:spPr>
        <p:txBody>
          <a:bodyPr wrap="square">
            <a:spAutoFit/>
          </a:bodyPr>
          <a:lstStyle/>
          <a:p>
            <a:pPr algn="l"/>
            <a:r>
              <a:rPr sz="1000" b="1" i="0">
                <a:solidFill>
                  <a:srgbClr val="06B6D4"/>
                </a:solidFill>
              </a:rPr>
              <a:t>variance_nonneg</a:t>
            </a:r>
          </a:p>
        </p:txBody>
      </p:sp>
      <p:sp>
        <p:nvSpPr>
          <p:cNvPr id="8" name="TextBox 7"/>
          <p:cNvSpPr txBox="1"/>
          <p:nvPr/>
        </p:nvSpPr>
        <p:spPr>
          <a:xfrm>
            <a:off x="2697480" y="1920240"/>
            <a:ext cx="2103120" cy="502920"/>
          </a:xfrm>
          <a:prstGeom prst="rect">
            <a:avLst/>
          </a:prstGeom>
          <a:noFill/>
        </p:spPr>
        <p:txBody>
          <a:bodyPr wrap="square">
            <a:spAutoFit/>
          </a:bodyPr>
          <a:lstStyle/>
          <a:p>
            <a:pPr algn="l"/>
            <a:r>
              <a:rPr sz="1000" b="0" i="0">
                <a:solidFill>
                  <a:srgbClr val="CBD5E1"/>
                </a:solidFill>
              </a:rPr>
              <a:t>variance(xs) ≥ 0</a:t>
            </a:r>
          </a:p>
        </p:txBody>
      </p:sp>
      <p:sp>
        <p:nvSpPr>
          <p:cNvPr id="9" name="TextBox 8"/>
          <p:cNvSpPr txBox="1"/>
          <p:nvPr/>
        </p:nvSpPr>
        <p:spPr>
          <a:xfrm>
            <a:off x="4800600" y="1920240"/>
            <a:ext cx="868680" cy="502920"/>
          </a:xfrm>
          <a:prstGeom prst="rect">
            <a:avLst/>
          </a:prstGeom>
          <a:noFill/>
        </p:spPr>
        <p:txBody>
          <a:bodyPr wrap="square">
            <a:spAutoFit/>
          </a:bodyPr>
          <a:lstStyle/>
          <a:p>
            <a:pPr algn="l"/>
            <a:r>
              <a:rPr sz="1000" b="1" i="0">
                <a:solidFill>
                  <a:srgbClr val="10B981"/>
                </a:solidFill>
              </a:rPr>
              <a:t>✓ proven</a:t>
            </a:r>
          </a:p>
        </p:txBody>
      </p:sp>
      <p:sp>
        <p:nvSpPr>
          <p:cNvPr id="10" name="TextBox 9"/>
          <p:cNvSpPr txBox="1"/>
          <p:nvPr/>
        </p:nvSpPr>
        <p:spPr>
          <a:xfrm>
            <a:off x="411480" y="2542032"/>
            <a:ext cx="2286000" cy="502920"/>
          </a:xfrm>
          <a:prstGeom prst="rect">
            <a:avLst/>
          </a:prstGeom>
          <a:noFill/>
        </p:spPr>
        <p:txBody>
          <a:bodyPr wrap="square">
            <a:spAutoFit/>
          </a:bodyPr>
          <a:lstStyle/>
          <a:p>
            <a:pPr algn="l"/>
            <a:r>
              <a:rPr sz="1000" b="1" i="0">
                <a:solidFill>
                  <a:srgbClr val="06B6D4"/>
                </a:solidFill>
              </a:rPr>
              <a:t>sqDiff_nonneg</a:t>
            </a:r>
          </a:p>
        </p:txBody>
      </p:sp>
      <p:sp>
        <p:nvSpPr>
          <p:cNvPr id="11" name="TextBox 10"/>
          <p:cNvSpPr txBox="1"/>
          <p:nvPr/>
        </p:nvSpPr>
        <p:spPr>
          <a:xfrm>
            <a:off x="2697480" y="2542032"/>
            <a:ext cx="2103120" cy="502920"/>
          </a:xfrm>
          <a:prstGeom prst="rect">
            <a:avLst/>
          </a:prstGeom>
          <a:noFill/>
        </p:spPr>
        <p:txBody>
          <a:bodyPr wrap="square">
            <a:spAutoFit/>
          </a:bodyPr>
          <a:lstStyle/>
          <a:p>
            <a:pPr algn="l"/>
            <a:r>
              <a:rPr sz="1000" b="0" i="0">
                <a:solidFill>
                  <a:srgbClr val="CBD5E1"/>
                </a:solidFill>
              </a:rPr>
              <a:t>(x-c)² ≥ 0  for all x, c</a:t>
            </a:r>
          </a:p>
        </p:txBody>
      </p:sp>
      <p:sp>
        <p:nvSpPr>
          <p:cNvPr id="12" name="TextBox 11"/>
          <p:cNvSpPr txBox="1"/>
          <p:nvPr/>
        </p:nvSpPr>
        <p:spPr>
          <a:xfrm>
            <a:off x="4800600" y="2542032"/>
            <a:ext cx="868680" cy="502920"/>
          </a:xfrm>
          <a:prstGeom prst="rect">
            <a:avLst/>
          </a:prstGeom>
          <a:noFill/>
        </p:spPr>
        <p:txBody>
          <a:bodyPr wrap="square">
            <a:spAutoFit/>
          </a:bodyPr>
          <a:lstStyle/>
          <a:p>
            <a:pPr algn="l"/>
            <a:r>
              <a:rPr sz="1000" b="1" i="0">
                <a:solidFill>
                  <a:srgbClr val="10B981"/>
                </a:solidFill>
              </a:rPr>
              <a:t>✓ proven</a:t>
            </a:r>
          </a:p>
        </p:txBody>
      </p:sp>
      <p:sp>
        <p:nvSpPr>
          <p:cNvPr id="13" name="TextBox 12"/>
          <p:cNvSpPr txBox="1"/>
          <p:nvPr/>
        </p:nvSpPr>
        <p:spPr>
          <a:xfrm>
            <a:off x="411480" y="3163824"/>
            <a:ext cx="2286000" cy="502920"/>
          </a:xfrm>
          <a:prstGeom prst="rect">
            <a:avLst/>
          </a:prstGeom>
          <a:noFill/>
        </p:spPr>
        <p:txBody>
          <a:bodyPr wrap="square">
            <a:spAutoFit/>
          </a:bodyPr>
          <a:lstStyle/>
          <a:p>
            <a:pPr algn="l"/>
            <a:r>
              <a:rPr sz="1000" b="1" i="0">
                <a:solidFill>
                  <a:srgbClr val="06B6D4"/>
                </a:solidFill>
              </a:rPr>
              <a:t>listSum_nonneg</a:t>
            </a:r>
          </a:p>
        </p:txBody>
      </p:sp>
      <p:sp>
        <p:nvSpPr>
          <p:cNvPr id="14" name="TextBox 13"/>
          <p:cNvSpPr txBox="1"/>
          <p:nvPr/>
        </p:nvSpPr>
        <p:spPr>
          <a:xfrm>
            <a:off x="2697480" y="3163824"/>
            <a:ext cx="2103120" cy="502920"/>
          </a:xfrm>
          <a:prstGeom prst="rect">
            <a:avLst/>
          </a:prstGeom>
          <a:noFill/>
        </p:spPr>
        <p:txBody>
          <a:bodyPr wrap="square">
            <a:spAutoFit/>
          </a:bodyPr>
          <a:lstStyle/>
          <a:p>
            <a:pPr algn="l"/>
            <a:r>
              <a:rPr sz="1000" b="0" i="0">
                <a:solidFill>
                  <a:srgbClr val="CBD5E1"/>
                </a:solidFill>
              </a:rPr>
              <a:t>sum ≥ 0 when all elements ≥ 0</a:t>
            </a:r>
          </a:p>
        </p:txBody>
      </p:sp>
      <p:sp>
        <p:nvSpPr>
          <p:cNvPr id="15" name="TextBox 14"/>
          <p:cNvSpPr txBox="1"/>
          <p:nvPr/>
        </p:nvSpPr>
        <p:spPr>
          <a:xfrm>
            <a:off x="4800600" y="3163824"/>
            <a:ext cx="868680" cy="502920"/>
          </a:xfrm>
          <a:prstGeom prst="rect">
            <a:avLst/>
          </a:prstGeom>
          <a:noFill/>
        </p:spPr>
        <p:txBody>
          <a:bodyPr wrap="square">
            <a:spAutoFit/>
          </a:bodyPr>
          <a:lstStyle/>
          <a:p>
            <a:pPr algn="l"/>
            <a:r>
              <a:rPr sz="1000" b="1" i="0">
                <a:solidFill>
                  <a:srgbClr val="10B981"/>
                </a:solidFill>
              </a:rPr>
              <a:t>✓ proven</a:t>
            </a:r>
          </a:p>
        </p:txBody>
      </p:sp>
      <p:sp>
        <p:nvSpPr>
          <p:cNvPr id="16" name="TextBox 15"/>
          <p:cNvSpPr txBox="1"/>
          <p:nvPr/>
        </p:nvSpPr>
        <p:spPr>
          <a:xfrm>
            <a:off x="411480" y="3785616"/>
            <a:ext cx="2286000" cy="502920"/>
          </a:xfrm>
          <a:prstGeom prst="rect">
            <a:avLst/>
          </a:prstGeom>
          <a:noFill/>
        </p:spPr>
        <p:txBody>
          <a:bodyPr wrap="square">
            <a:spAutoFit/>
          </a:bodyPr>
          <a:lstStyle/>
          <a:p>
            <a:pPr algn="l"/>
            <a:r>
              <a:rPr sz="1000" b="1" i="0">
                <a:solidFill>
                  <a:srgbClr val="06B6D4"/>
                </a:solidFill>
              </a:rPr>
              <a:t>innerProd_self_nonneg</a:t>
            </a:r>
          </a:p>
        </p:txBody>
      </p:sp>
      <p:sp>
        <p:nvSpPr>
          <p:cNvPr id="17" name="TextBox 16"/>
          <p:cNvSpPr txBox="1"/>
          <p:nvPr/>
        </p:nvSpPr>
        <p:spPr>
          <a:xfrm>
            <a:off x="2697480" y="3785616"/>
            <a:ext cx="2103120" cy="502920"/>
          </a:xfrm>
          <a:prstGeom prst="rect">
            <a:avLst/>
          </a:prstGeom>
          <a:noFill/>
        </p:spPr>
        <p:txBody>
          <a:bodyPr wrap="square">
            <a:spAutoFit/>
          </a:bodyPr>
          <a:lstStyle/>
          <a:p>
            <a:pPr algn="l"/>
            <a:r>
              <a:rPr sz="1000" b="0" i="0">
                <a:solidFill>
                  <a:srgbClr val="CBD5E1"/>
                </a:solidFill>
              </a:rPr>
              <a:t>⟨xs, xs⟩ ≥ 0</a:t>
            </a:r>
          </a:p>
        </p:txBody>
      </p:sp>
      <p:sp>
        <p:nvSpPr>
          <p:cNvPr id="18" name="TextBox 17"/>
          <p:cNvSpPr txBox="1"/>
          <p:nvPr/>
        </p:nvSpPr>
        <p:spPr>
          <a:xfrm>
            <a:off x="4800600" y="3785616"/>
            <a:ext cx="868680" cy="502920"/>
          </a:xfrm>
          <a:prstGeom prst="rect">
            <a:avLst/>
          </a:prstGeom>
          <a:noFill/>
        </p:spPr>
        <p:txBody>
          <a:bodyPr wrap="square">
            <a:spAutoFit/>
          </a:bodyPr>
          <a:lstStyle/>
          <a:p>
            <a:pPr algn="l"/>
            <a:r>
              <a:rPr sz="1000" b="1" i="0">
                <a:solidFill>
                  <a:srgbClr val="10B981"/>
                </a:solidFill>
              </a:rPr>
              <a:t>✓ proven</a:t>
            </a:r>
          </a:p>
        </p:txBody>
      </p:sp>
      <p:sp>
        <p:nvSpPr>
          <p:cNvPr id="19" name="TextBox 18"/>
          <p:cNvSpPr txBox="1"/>
          <p:nvPr/>
        </p:nvSpPr>
        <p:spPr>
          <a:xfrm>
            <a:off x="411480" y="4407408"/>
            <a:ext cx="2286000" cy="502920"/>
          </a:xfrm>
          <a:prstGeom prst="rect">
            <a:avLst/>
          </a:prstGeom>
          <a:noFill/>
        </p:spPr>
        <p:txBody>
          <a:bodyPr wrap="square">
            <a:spAutoFit/>
          </a:bodyPr>
          <a:lstStyle/>
          <a:p>
            <a:pPr algn="l"/>
            <a:r>
              <a:rPr sz="1000" b="1" i="0">
                <a:solidFill>
                  <a:srgbClr val="06B6D4"/>
                </a:solidFill>
              </a:rPr>
              <a:t>listLen_nonneg</a:t>
            </a:r>
          </a:p>
        </p:txBody>
      </p:sp>
      <p:sp>
        <p:nvSpPr>
          <p:cNvPr id="20" name="TextBox 19"/>
          <p:cNvSpPr txBox="1"/>
          <p:nvPr/>
        </p:nvSpPr>
        <p:spPr>
          <a:xfrm>
            <a:off x="2697480" y="4407408"/>
            <a:ext cx="2103120" cy="502920"/>
          </a:xfrm>
          <a:prstGeom prst="rect">
            <a:avLst/>
          </a:prstGeom>
          <a:noFill/>
        </p:spPr>
        <p:txBody>
          <a:bodyPr wrap="square">
            <a:spAutoFit/>
          </a:bodyPr>
          <a:lstStyle/>
          <a:p>
            <a:pPr algn="l"/>
            <a:r>
              <a:rPr sz="1000" b="0" i="0">
                <a:solidFill>
                  <a:srgbClr val="CBD5E1"/>
                </a:solidFill>
              </a:rPr>
              <a:t>len(xs) ≥ 0</a:t>
            </a:r>
          </a:p>
        </p:txBody>
      </p:sp>
      <p:sp>
        <p:nvSpPr>
          <p:cNvPr id="21" name="TextBox 20"/>
          <p:cNvSpPr txBox="1"/>
          <p:nvPr/>
        </p:nvSpPr>
        <p:spPr>
          <a:xfrm>
            <a:off x="4800600" y="4407408"/>
            <a:ext cx="868680" cy="502920"/>
          </a:xfrm>
          <a:prstGeom prst="rect">
            <a:avLst/>
          </a:prstGeom>
          <a:noFill/>
        </p:spPr>
        <p:txBody>
          <a:bodyPr wrap="square">
            <a:spAutoFit/>
          </a:bodyPr>
          <a:lstStyle/>
          <a:p>
            <a:pPr algn="l"/>
            <a:r>
              <a:rPr sz="1000" b="1" i="0">
                <a:solidFill>
                  <a:srgbClr val="10B981"/>
                </a:solidFill>
              </a:rPr>
              <a:t>✓ proven</a:t>
            </a:r>
          </a:p>
        </p:txBody>
      </p:sp>
      <p:sp>
        <p:nvSpPr>
          <p:cNvPr id="22" name="TextBox 21"/>
          <p:cNvSpPr txBox="1"/>
          <p:nvPr/>
        </p:nvSpPr>
        <p:spPr>
          <a:xfrm>
            <a:off x="411480" y="5029200"/>
            <a:ext cx="2286000" cy="502920"/>
          </a:xfrm>
          <a:prstGeom prst="rect">
            <a:avLst/>
          </a:prstGeom>
          <a:noFill/>
        </p:spPr>
        <p:txBody>
          <a:bodyPr wrap="square">
            <a:spAutoFit/>
          </a:bodyPr>
          <a:lstStyle/>
          <a:p>
            <a:pPr algn="l"/>
            <a:r>
              <a:rPr sz="1000" b="1" i="0">
                <a:solidFill>
                  <a:srgbClr val="06B6D4"/>
                </a:solidFill>
              </a:rPr>
              <a:t>pearson_bounded</a:t>
            </a:r>
          </a:p>
        </p:txBody>
      </p:sp>
      <p:sp>
        <p:nvSpPr>
          <p:cNvPr id="23" name="TextBox 22"/>
          <p:cNvSpPr txBox="1"/>
          <p:nvPr/>
        </p:nvSpPr>
        <p:spPr>
          <a:xfrm>
            <a:off x="2697480" y="5029200"/>
            <a:ext cx="2103120" cy="502920"/>
          </a:xfrm>
          <a:prstGeom prst="rect">
            <a:avLst/>
          </a:prstGeom>
          <a:noFill/>
        </p:spPr>
        <p:txBody>
          <a:bodyPr wrap="square">
            <a:spAutoFit/>
          </a:bodyPr>
          <a:lstStyle/>
          <a:p>
            <a:pPr algn="l"/>
            <a:r>
              <a:rPr sz="1000" b="0" i="0">
                <a:solidFill>
                  <a:srgbClr val="CBD5E1"/>
                </a:solidFill>
              </a:rPr>
              <a:t>-1 ≤ r ≤ 1  (Cauchy-Schwarz)</a:t>
            </a:r>
          </a:p>
        </p:txBody>
      </p:sp>
      <p:sp>
        <p:nvSpPr>
          <p:cNvPr id="24" name="TextBox 23"/>
          <p:cNvSpPr txBox="1"/>
          <p:nvPr/>
        </p:nvSpPr>
        <p:spPr>
          <a:xfrm>
            <a:off x="4800600" y="5029200"/>
            <a:ext cx="868680" cy="502920"/>
          </a:xfrm>
          <a:prstGeom prst="rect">
            <a:avLst/>
          </a:prstGeom>
          <a:noFill/>
        </p:spPr>
        <p:txBody>
          <a:bodyPr wrap="square">
            <a:spAutoFit/>
          </a:bodyPr>
          <a:lstStyle/>
          <a:p>
            <a:pPr algn="l"/>
            <a:r>
              <a:rPr sz="1000" b="1" i="0">
                <a:solidFill>
                  <a:srgbClr val="F59E0B"/>
                </a:solidFill>
              </a:rPr>
              <a:t>⊡ open goal</a:t>
            </a:r>
          </a:p>
        </p:txBody>
      </p:sp>
      <p:sp>
        <p:nvSpPr>
          <p:cNvPr id="25" name="TextBox 24"/>
          <p:cNvSpPr txBox="1"/>
          <p:nvPr/>
        </p:nvSpPr>
        <p:spPr>
          <a:xfrm>
            <a:off x="411480" y="5650992"/>
            <a:ext cx="2286000" cy="502920"/>
          </a:xfrm>
          <a:prstGeom prst="rect">
            <a:avLst/>
          </a:prstGeom>
          <a:noFill/>
        </p:spPr>
        <p:txBody>
          <a:bodyPr wrap="square">
            <a:spAutoFit/>
          </a:bodyPr>
          <a:lstStyle/>
          <a:p>
            <a:pPr algn="l"/>
            <a:r>
              <a:rPr sz="1000" b="1" i="0">
                <a:solidFill>
                  <a:srgbClr val="06B6D4"/>
                </a:solidFill>
              </a:rPr>
              <a:t>histogram_conserves</a:t>
            </a:r>
          </a:p>
        </p:txBody>
      </p:sp>
      <p:sp>
        <p:nvSpPr>
          <p:cNvPr id="26" name="TextBox 25"/>
          <p:cNvSpPr txBox="1"/>
          <p:nvPr/>
        </p:nvSpPr>
        <p:spPr>
          <a:xfrm>
            <a:off x="2697480" y="5650992"/>
            <a:ext cx="2103120" cy="502920"/>
          </a:xfrm>
          <a:prstGeom prst="rect">
            <a:avLst/>
          </a:prstGeom>
          <a:noFill/>
        </p:spPr>
        <p:txBody>
          <a:bodyPr wrap="square">
            <a:spAutoFit/>
          </a:bodyPr>
          <a:lstStyle/>
          <a:p>
            <a:pPr algn="l"/>
            <a:r>
              <a:rPr sz="1000" b="0" i="0">
                <a:solidFill>
                  <a:srgbClr val="CBD5E1"/>
                </a:solidFill>
              </a:rPr>
              <a:t>Σ bins = len(xs)</a:t>
            </a:r>
          </a:p>
        </p:txBody>
      </p:sp>
      <p:sp>
        <p:nvSpPr>
          <p:cNvPr id="27" name="TextBox 26"/>
          <p:cNvSpPr txBox="1"/>
          <p:nvPr/>
        </p:nvSpPr>
        <p:spPr>
          <a:xfrm>
            <a:off x="4800600" y="5650992"/>
            <a:ext cx="868680" cy="502920"/>
          </a:xfrm>
          <a:prstGeom prst="rect">
            <a:avLst/>
          </a:prstGeom>
          <a:noFill/>
        </p:spPr>
        <p:txBody>
          <a:bodyPr wrap="square">
            <a:spAutoFit/>
          </a:bodyPr>
          <a:lstStyle/>
          <a:p>
            <a:pPr algn="l"/>
            <a:r>
              <a:rPr sz="1000" b="1" i="0">
                <a:solidFill>
                  <a:srgbClr val="F59E0B"/>
                </a:solidFill>
              </a:rPr>
              <a:t>⊡ open goal</a:t>
            </a:r>
          </a:p>
        </p:txBody>
      </p:sp>
      <p:sp>
        <p:nvSpPr>
          <p:cNvPr id="28" name="Rectangle 27"/>
          <p:cNvSpPr/>
          <p:nvPr/>
        </p:nvSpPr>
        <p:spPr>
          <a:xfrm>
            <a:off x="6035040" y="1371600"/>
            <a:ext cx="5852160" cy="5120640"/>
          </a:xfrm>
          <a:prstGeom prst="rect">
            <a:avLst/>
          </a:prstGeom>
          <a:solidFill>
            <a:srgbClr val="0B1420"/>
          </a:solidFill>
          <a:ln w="1270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72200" y="1463040"/>
            <a:ext cx="5486400" cy="365760"/>
          </a:xfrm>
          <a:prstGeom prst="rect">
            <a:avLst/>
          </a:prstGeom>
          <a:noFill/>
        </p:spPr>
        <p:txBody>
          <a:bodyPr wrap="square">
            <a:spAutoFit/>
          </a:bodyPr>
          <a:lstStyle/>
          <a:p>
            <a:pPr algn="l"/>
            <a:r>
              <a:rPr sz="1100" b="1" i="0">
                <a:solidFill>
                  <a:srgbClr val="A85CFF"/>
                </a:solidFill>
              </a:rPr>
              <a:t>lean/VerifiedEDA/Proofs.lean</a:t>
            </a:r>
          </a:p>
        </p:txBody>
      </p:sp>
      <p:sp>
        <p:nvSpPr>
          <p:cNvPr id="30" name="TextBox 29"/>
          <p:cNvSpPr txBox="1"/>
          <p:nvPr/>
        </p:nvSpPr>
        <p:spPr>
          <a:xfrm>
            <a:off x="6172200" y="1874519"/>
            <a:ext cx="5577840" cy="4480560"/>
          </a:xfrm>
          <a:prstGeom prst="rect">
            <a:avLst/>
          </a:prstGeom>
          <a:noFill/>
        </p:spPr>
        <p:txBody>
          <a:bodyPr wrap="square">
            <a:spAutoFit/>
          </a:bodyPr>
          <a:lstStyle/>
          <a:p>
            <a:pPr algn="l"/>
            <a:r>
              <a:rPr sz="900" b="0" i="0">
                <a:solidFill>
                  <a:srgbClr val="06B6D4"/>
                </a:solidFill>
              </a:rPr>
              <a:t>theorem variance_nonneg (xs : List Int)
    (h : xs ≠ []) : 0 ≤ variance xs h := by
  unfold variance
  apply div_nonneg
  · apply listSum_nonneg
    intro x hx
    simp [sqDiffs] at hx
    obtain ⟨a, _, rfl⟩ := hx
    exact sqDiff_nonneg a (mean xs h)
  · exact le_of_lt (listLen_pos xs h)
theorem sqDiff_nonneg (x c : Int) :
    0 ≤ sqDiff x c := by
  unfold sqDiff
  exact mul_self_nonneg (x - c)
theorem innerProd_self_nonneg
    (xs : List Int) : 0 ≤ innerProd xs xs := by
  induction xs with
  | nil  =&gt; simp [innerProd]
  | cons x xs ih =&gt;
    simp [innerProd]
    have : 0 ≤ x * x := mul_self_nonneg x
    linarith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i="0">
                <a:solidFill>
                  <a:srgbClr val="FFFFFF"/>
                </a:solidFill>
              </a:rPr>
              <a:t>Agentic Verification Pipeline</a:t>
            </a:r>
          </a:p>
        </p:txBody>
      </p:sp>
      <p:sp>
        <p:nvSpPr>
          <p:cNvPr id="4" name="TextBox 3"/>
          <p:cNvSpPr txBox="1"/>
          <p:nvPr/>
        </p:nvSpPr>
        <p:spPr>
          <a:xfrm>
            <a:off x="457200" y="777240"/>
            <a:ext cx="10972800" cy="411480"/>
          </a:xfrm>
          <a:prstGeom prst="rect">
            <a:avLst/>
          </a:prstGeom>
          <a:noFill/>
        </p:spPr>
        <p:txBody>
          <a:bodyPr wrap="square">
            <a:spAutoFit/>
          </a:bodyPr>
          <a:lstStyle/>
          <a:p>
            <a:pPr algn="l"/>
            <a:r>
              <a:rPr sz="1600" b="0" i="0">
                <a:solidFill>
                  <a:srgbClr val="06B6D4"/>
                </a:solidFill>
              </a:rPr>
              <a:t>Four specialised agents orchestrated by a master controller</a:t>
            </a:r>
          </a:p>
        </p:txBody>
      </p:sp>
      <p:sp>
        <p:nvSpPr>
          <p:cNvPr id="5" name="Rectangle 4"/>
          <p:cNvSpPr/>
          <p:nvPr/>
        </p:nvSpPr>
        <p:spPr>
          <a:xfrm>
            <a:off x="228600" y="1325880"/>
            <a:ext cx="5669280" cy="2606040"/>
          </a:xfrm>
          <a:prstGeom prst="rect">
            <a:avLst/>
          </a:prstGeom>
          <a:solidFill>
            <a:srgbClr val="161B2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325880"/>
            <a:ext cx="566928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25880"/>
            <a:ext cx="4114800" cy="411480"/>
          </a:xfrm>
          <a:prstGeom prst="rect">
            <a:avLst/>
          </a:prstGeom>
          <a:noFill/>
        </p:spPr>
        <p:txBody>
          <a:bodyPr wrap="square">
            <a:spAutoFit/>
          </a:bodyPr>
          <a:lstStyle/>
          <a:p>
            <a:pPr algn="l"/>
            <a:r>
              <a:rPr sz="1400" b="1" i="0">
                <a:solidFill>
                  <a:srgbClr val="FFFFFF"/>
                </a:solidFill>
              </a:rPr>
              <a:t>Translator Agent</a:t>
            </a:r>
          </a:p>
        </p:txBody>
      </p:sp>
      <p:sp>
        <p:nvSpPr>
          <p:cNvPr id="8" name="TextBox 7"/>
          <p:cNvSpPr txBox="1"/>
          <p:nvPr/>
        </p:nvSpPr>
        <p:spPr>
          <a:xfrm>
            <a:off x="4343400" y="1325880"/>
            <a:ext cx="1463040" cy="411480"/>
          </a:xfrm>
          <a:prstGeom prst="rect">
            <a:avLst/>
          </a:prstGeom>
          <a:noFill/>
        </p:spPr>
        <p:txBody>
          <a:bodyPr wrap="square">
            <a:spAutoFit/>
          </a:bodyPr>
          <a:lstStyle/>
          <a:p>
            <a:pPr algn="r"/>
            <a:r>
              <a:rPr sz="900" b="0" i="0">
                <a:solidFill>
                  <a:srgbClr val="0D1117"/>
                </a:solidFill>
              </a:rPr>
              <a:t>translator.py</a:t>
            </a:r>
          </a:p>
        </p:txBody>
      </p:sp>
      <p:sp>
        <p:nvSpPr>
          <p:cNvPr id="9" name="TextBox 8"/>
          <p:cNvSpPr txBox="1"/>
          <p:nvPr/>
        </p:nvSpPr>
        <p:spPr>
          <a:xfrm>
            <a:off x="411480" y="1828800"/>
            <a:ext cx="5303520" cy="384048"/>
          </a:xfrm>
          <a:prstGeom prst="rect">
            <a:avLst/>
          </a:prstGeom>
          <a:noFill/>
        </p:spPr>
        <p:txBody>
          <a:bodyPr wrap="square">
            <a:spAutoFit/>
          </a:bodyPr>
          <a:lstStyle/>
          <a:p>
            <a:pPr algn="l"/>
            <a:r>
              <a:rPr sz="1000" b="0" i="0">
                <a:solidFill>
                  <a:srgbClr val="CBD5E1"/>
                </a:solidFill>
              </a:rPr>
              <a:t>• Inspects Python AST of each stat function</a:t>
            </a:r>
          </a:p>
        </p:txBody>
      </p:sp>
      <p:sp>
        <p:nvSpPr>
          <p:cNvPr id="10" name="TextBox 9"/>
          <p:cNvSpPr txBox="1"/>
          <p:nvPr/>
        </p:nvSpPr>
        <p:spPr>
          <a:xfrm>
            <a:off x="411480" y="2231136"/>
            <a:ext cx="5303520" cy="384048"/>
          </a:xfrm>
          <a:prstGeom prst="rect">
            <a:avLst/>
          </a:prstGeom>
          <a:noFill/>
        </p:spPr>
        <p:txBody>
          <a:bodyPr wrap="square">
            <a:spAutoFit/>
          </a:bodyPr>
          <a:lstStyle/>
          <a:p>
            <a:pPr algn="l"/>
            <a:r>
              <a:rPr sz="1000" b="0" i="0">
                <a:solidFill>
                  <a:srgbClr val="CBD5E1"/>
                </a:solidFill>
              </a:rPr>
              <a:t>• Matches against Lean 4 template library</a:t>
            </a:r>
          </a:p>
        </p:txBody>
      </p:sp>
      <p:sp>
        <p:nvSpPr>
          <p:cNvPr id="11" name="TextBox 10"/>
          <p:cNvSpPr txBox="1"/>
          <p:nvPr/>
        </p:nvSpPr>
        <p:spPr>
          <a:xfrm>
            <a:off x="411480" y="2633472"/>
            <a:ext cx="5303520" cy="384048"/>
          </a:xfrm>
          <a:prstGeom prst="rect">
            <a:avLst/>
          </a:prstGeom>
          <a:noFill/>
        </p:spPr>
        <p:txBody>
          <a:bodyPr wrap="square">
            <a:spAutoFit/>
          </a:bodyPr>
          <a:lstStyle/>
          <a:p>
            <a:pPr algn="l"/>
            <a:r>
              <a:rPr sz="1000" b="0" i="0">
                <a:solidFill>
                  <a:srgbClr val="CBD5E1"/>
                </a:solidFill>
              </a:rPr>
              <a:t>• Falls back to rule-based AST translation</a:t>
            </a:r>
          </a:p>
        </p:txBody>
      </p:sp>
      <p:sp>
        <p:nvSpPr>
          <p:cNvPr id="12" name="TextBox 11"/>
          <p:cNvSpPr txBox="1"/>
          <p:nvPr/>
        </p:nvSpPr>
        <p:spPr>
          <a:xfrm>
            <a:off x="411480" y="3035808"/>
            <a:ext cx="5303520" cy="384048"/>
          </a:xfrm>
          <a:prstGeom prst="rect">
            <a:avLst/>
          </a:prstGeom>
          <a:noFill/>
        </p:spPr>
        <p:txBody>
          <a:bodyPr wrap="square">
            <a:spAutoFit/>
          </a:bodyPr>
          <a:lstStyle/>
          <a:p>
            <a:pPr algn="l"/>
            <a:r>
              <a:rPr sz="1000" b="0" i="0">
                <a:solidFill>
                  <a:srgbClr val="CBD5E1"/>
                </a:solidFill>
              </a:rPr>
              <a:t>• Optional: Claude/Groq LLM for complex fns</a:t>
            </a:r>
          </a:p>
        </p:txBody>
      </p:sp>
      <p:sp>
        <p:nvSpPr>
          <p:cNvPr id="13" name="TextBox 12"/>
          <p:cNvSpPr txBox="1"/>
          <p:nvPr/>
        </p:nvSpPr>
        <p:spPr>
          <a:xfrm>
            <a:off x="411480" y="3438144"/>
            <a:ext cx="5303520" cy="384048"/>
          </a:xfrm>
          <a:prstGeom prst="rect">
            <a:avLst/>
          </a:prstGeom>
          <a:noFill/>
        </p:spPr>
        <p:txBody>
          <a:bodyPr wrap="square">
            <a:spAutoFit/>
          </a:bodyPr>
          <a:lstStyle/>
          <a:p>
            <a:pPr algn="l"/>
            <a:r>
              <a:rPr sz="1000" b="0" i="0">
                <a:solidFill>
                  <a:srgbClr val="CBD5E1"/>
                </a:solidFill>
              </a:rPr>
              <a:t>• Output: valid Lean 4 definitions</a:t>
            </a:r>
          </a:p>
        </p:txBody>
      </p:sp>
      <p:sp>
        <p:nvSpPr>
          <p:cNvPr id="14" name="Rectangle 13"/>
          <p:cNvSpPr/>
          <p:nvPr/>
        </p:nvSpPr>
        <p:spPr>
          <a:xfrm>
            <a:off x="6217920" y="1325880"/>
            <a:ext cx="5669280" cy="2606040"/>
          </a:xfrm>
          <a:prstGeom prst="rect">
            <a:avLst/>
          </a:prstGeom>
          <a:solidFill>
            <a:srgbClr val="161B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325880"/>
            <a:ext cx="566928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325880"/>
            <a:ext cx="4114800" cy="411480"/>
          </a:xfrm>
          <a:prstGeom prst="rect">
            <a:avLst/>
          </a:prstGeom>
          <a:noFill/>
        </p:spPr>
        <p:txBody>
          <a:bodyPr wrap="square">
            <a:spAutoFit/>
          </a:bodyPr>
          <a:lstStyle/>
          <a:p>
            <a:pPr algn="l"/>
            <a:r>
              <a:rPr sz="1400" b="1" i="0">
                <a:solidFill>
                  <a:srgbClr val="FFFFFF"/>
                </a:solidFill>
              </a:rPr>
              <a:t>Prover Agent</a:t>
            </a:r>
          </a:p>
        </p:txBody>
      </p:sp>
      <p:sp>
        <p:nvSpPr>
          <p:cNvPr id="17" name="TextBox 16"/>
          <p:cNvSpPr txBox="1"/>
          <p:nvPr/>
        </p:nvSpPr>
        <p:spPr>
          <a:xfrm>
            <a:off x="10332720" y="1325880"/>
            <a:ext cx="1463040" cy="411480"/>
          </a:xfrm>
          <a:prstGeom prst="rect">
            <a:avLst/>
          </a:prstGeom>
          <a:noFill/>
        </p:spPr>
        <p:txBody>
          <a:bodyPr wrap="square">
            <a:spAutoFit/>
          </a:bodyPr>
          <a:lstStyle/>
          <a:p>
            <a:pPr algn="r"/>
            <a:r>
              <a:rPr sz="900" b="0" i="0">
                <a:solidFill>
                  <a:srgbClr val="0D1117"/>
                </a:solidFill>
              </a:rPr>
              <a:t>prover.py</a:t>
            </a:r>
          </a:p>
        </p:txBody>
      </p:sp>
      <p:sp>
        <p:nvSpPr>
          <p:cNvPr id="18" name="TextBox 17"/>
          <p:cNvSpPr txBox="1"/>
          <p:nvPr/>
        </p:nvSpPr>
        <p:spPr>
          <a:xfrm>
            <a:off x="6400800" y="1828800"/>
            <a:ext cx="5303520" cy="384048"/>
          </a:xfrm>
          <a:prstGeom prst="rect">
            <a:avLst/>
          </a:prstGeom>
          <a:noFill/>
        </p:spPr>
        <p:txBody>
          <a:bodyPr wrap="square">
            <a:spAutoFit/>
          </a:bodyPr>
          <a:lstStyle/>
          <a:p>
            <a:pPr algn="l"/>
            <a:r>
              <a:rPr sz="1000" b="0" i="0">
                <a:solidFill>
                  <a:srgbClr val="CBD5E1"/>
                </a:solidFill>
              </a:rPr>
              <a:t>• Checks pre-built proof template database</a:t>
            </a:r>
          </a:p>
        </p:txBody>
      </p:sp>
      <p:sp>
        <p:nvSpPr>
          <p:cNvPr id="19" name="TextBox 18"/>
          <p:cNvSpPr txBox="1"/>
          <p:nvPr/>
        </p:nvSpPr>
        <p:spPr>
          <a:xfrm>
            <a:off x="6400800" y="2231136"/>
            <a:ext cx="5303520" cy="384048"/>
          </a:xfrm>
          <a:prstGeom prst="rect">
            <a:avLst/>
          </a:prstGeom>
          <a:noFill/>
        </p:spPr>
        <p:txBody>
          <a:bodyPr wrap="square">
            <a:spAutoFit/>
          </a:bodyPr>
          <a:lstStyle/>
          <a:p>
            <a:pPr algn="l"/>
            <a:r>
              <a:rPr sz="1000" b="0" i="0">
                <a:solidFill>
                  <a:srgbClr val="CBD5E1"/>
                </a:solidFill>
              </a:rPr>
              <a:t>• Tries common tactic sequences (simp, linarith…)</a:t>
            </a:r>
          </a:p>
        </p:txBody>
      </p:sp>
      <p:sp>
        <p:nvSpPr>
          <p:cNvPr id="20" name="TextBox 19"/>
          <p:cNvSpPr txBox="1"/>
          <p:nvPr/>
        </p:nvSpPr>
        <p:spPr>
          <a:xfrm>
            <a:off x="6400800" y="2633472"/>
            <a:ext cx="5303520" cy="384048"/>
          </a:xfrm>
          <a:prstGeom prst="rect">
            <a:avLst/>
          </a:prstGeom>
          <a:noFill/>
        </p:spPr>
        <p:txBody>
          <a:bodyPr wrap="square">
            <a:spAutoFit/>
          </a:bodyPr>
          <a:lstStyle/>
          <a:p>
            <a:pPr algn="l"/>
            <a:r>
              <a:rPr sz="1000" b="0" i="0">
                <a:solidFill>
                  <a:srgbClr val="CBD5E1"/>
                </a:solidFill>
              </a:rPr>
              <a:t>• Type-checks via local lean binary if present</a:t>
            </a:r>
          </a:p>
        </p:txBody>
      </p:sp>
      <p:sp>
        <p:nvSpPr>
          <p:cNvPr id="21" name="TextBox 20"/>
          <p:cNvSpPr txBox="1"/>
          <p:nvPr/>
        </p:nvSpPr>
        <p:spPr>
          <a:xfrm>
            <a:off x="6400800" y="3035808"/>
            <a:ext cx="5303520" cy="384048"/>
          </a:xfrm>
          <a:prstGeom prst="rect">
            <a:avLst/>
          </a:prstGeom>
          <a:noFill/>
        </p:spPr>
        <p:txBody>
          <a:bodyPr wrap="square">
            <a:spAutoFit/>
          </a:bodyPr>
          <a:lstStyle/>
          <a:p>
            <a:pPr algn="l"/>
            <a:r>
              <a:rPr sz="1000" b="0" i="0">
                <a:solidFill>
                  <a:srgbClr val="CBD5E1"/>
                </a:solidFill>
              </a:rPr>
              <a:t>• Retries up to 5× with LLM tactic suggestions</a:t>
            </a:r>
          </a:p>
        </p:txBody>
      </p:sp>
      <p:sp>
        <p:nvSpPr>
          <p:cNvPr id="22" name="TextBox 21"/>
          <p:cNvSpPr txBox="1"/>
          <p:nvPr/>
        </p:nvSpPr>
        <p:spPr>
          <a:xfrm>
            <a:off x="6400800" y="3438144"/>
            <a:ext cx="5303520" cy="384048"/>
          </a:xfrm>
          <a:prstGeom prst="rect">
            <a:avLst/>
          </a:prstGeom>
          <a:noFill/>
        </p:spPr>
        <p:txBody>
          <a:bodyPr wrap="square">
            <a:spAutoFit/>
          </a:bodyPr>
          <a:lstStyle/>
          <a:p>
            <a:pPr algn="l"/>
            <a:r>
              <a:rPr sz="1000" b="0" i="0">
                <a:solidFill>
                  <a:srgbClr val="CBD5E1"/>
                </a:solidFill>
              </a:rPr>
              <a:t>• Output: ProofResult (proven | failed | timeout)</a:t>
            </a:r>
          </a:p>
        </p:txBody>
      </p:sp>
      <p:sp>
        <p:nvSpPr>
          <p:cNvPr id="23" name="Rectangle 22"/>
          <p:cNvSpPr/>
          <p:nvPr/>
        </p:nvSpPr>
        <p:spPr>
          <a:xfrm>
            <a:off x="228600" y="4160520"/>
            <a:ext cx="5669280" cy="2606040"/>
          </a:xfrm>
          <a:prstGeom prst="rect">
            <a:avLst/>
          </a:prstGeom>
          <a:solidFill>
            <a:srgbClr val="161B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28600" y="4160520"/>
            <a:ext cx="56692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 y="4160520"/>
            <a:ext cx="4114800" cy="411480"/>
          </a:xfrm>
          <a:prstGeom prst="rect">
            <a:avLst/>
          </a:prstGeom>
          <a:noFill/>
        </p:spPr>
        <p:txBody>
          <a:bodyPr wrap="square">
            <a:spAutoFit/>
          </a:bodyPr>
          <a:lstStyle/>
          <a:p>
            <a:pPr algn="l"/>
            <a:r>
              <a:rPr sz="1400" b="1" i="0">
                <a:solidFill>
                  <a:srgbClr val="FFFFFF"/>
                </a:solidFill>
              </a:rPr>
              <a:t>Certifier Agent</a:t>
            </a:r>
          </a:p>
        </p:txBody>
      </p:sp>
      <p:sp>
        <p:nvSpPr>
          <p:cNvPr id="26" name="TextBox 25"/>
          <p:cNvSpPr txBox="1"/>
          <p:nvPr/>
        </p:nvSpPr>
        <p:spPr>
          <a:xfrm>
            <a:off x="4343400" y="4160520"/>
            <a:ext cx="1463040" cy="411480"/>
          </a:xfrm>
          <a:prstGeom prst="rect">
            <a:avLst/>
          </a:prstGeom>
          <a:noFill/>
        </p:spPr>
        <p:txBody>
          <a:bodyPr wrap="square">
            <a:spAutoFit/>
          </a:bodyPr>
          <a:lstStyle/>
          <a:p>
            <a:pPr algn="r"/>
            <a:r>
              <a:rPr sz="900" b="0" i="0">
                <a:solidFill>
                  <a:srgbClr val="0D1117"/>
                </a:solidFill>
              </a:rPr>
              <a:t>certifier.py</a:t>
            </a:r>
          </a:p>
        </p:txBody>
      </p:sp>
      <p:sp>
        <p:nvSpPr>
          <p:cNvPr id="27" name="TextBox 26"/>
          <p:cNvSpPr txBox="1"/>
          <p:nvPr/>
        </p:nvSpPr>
        <p:spPr>
          <a:xfrm>
            <a:off x="411480" y="4663440"/>
            <a:ext cx="5303520" cy="384048"/>
          </a:xfrm>
          <a:prstGeom prst="rect">
            <a:avLst/>
          </a:prstGeom>
          <a:noFill/>
        </p:spPr>
        <p:txBody>
          <a:bodyPr wrap="square">
            <a:spAutoFit/>
          </a:bodyPr>
          <a:lstStyle/>
          <a:p>
            <a:pPr algn="l"/>
            <a:r>
              <a:rPr sz="1000" b="0" i="0">
                <a:solidFill>
                  <a:srgbClr val="CBD5E1"/>
                </a:solidFill>
              </a:rPr>
              <a:t>• Hashes dataset with SHA-256</a:t>
            </a:r>
          </a:p>
        </p:txBody>
      </p:sp>
      <p:sp>
        <p:nvSpPr>
          <p:cNvPr id="28" name="TextBox 27"/>
          <p:cNvSpPr txBox="1"/>
          <p:nvPr/>
        </p:nvSpPr>
        <p:spPr>
          <a:xfrm>
            <a:off x="411480" y="5065776"/>
            <a:ext cx="5303520" cy="384048"/>
          </a:xfrm>
          <a:prstGeom prst="rect">
            <a:avLst/>
          </a:prstGeom>
          <a:noFill/>
        </p:spPr>
        <p:txBody>
          <a:bodyPr wrap="square">
            <a:spAutoFit/>
          </a:bodyPr>
          <a:lstStyle/>
          <a:p>
            <a:pPr algn="l"/>
            <a:r>
              <a:rPr sz="1000" b="0" i="0">
                <a:solidFill>
                  <a:srgbClr val="CBD5E1"/>
                </a:solidFill>
              </a:rPr>
              <a:t>• Hashes proof text with SHA-256</a:t>
            </a:r>
          </a:p>
        </p:txBody>
      </p:sp>
      <p:sp>
        <p:nvSpPr>
          <p:cNvPr id="29" name="TextBox 28"/>
          <p:cNvSpPr txBox="1"/>
          <p:nvPr/>
        </p:nvSpPr>
        <p:spPr>
          <a:xfrm>
            <a:off x="411480" y="5468112"/>
            <a:ext cx="5303520" cy="384048"/>
          </a:xfrm>
          <a:prstGeom prst="rect">
            <a:avLst/>
          </a:prstGeom>
          <a:noFill/>
        </p:spPr>
        <p:txBody>
          <a:bodyPr wrap="square">
            <a:spAutoFit/>
          </a:bodyPr>
          <a:lstStyle/>
          <a:p>
            <a:pPr algn="l"/>
            <a:r>
              <a:rPr sz="1000" b="0" i="0">
                <a:solidFill>
                  <a:srgbClr val="CBD5E1"/>
                </a:solidFill>
              </a:rPr>
              <a:t>• Creates tamper-evident certificate ID</a:t>
            </a:r>
          </a:p>
        </p:txBody>
      </p:sp>
      <p:sp>
        <p:nvSpPr>
          <p:cNvPr id="30" name="TextBox 29"/>
          <p:cNvSpPr txBox="1"/>
          <p:nvPr/>
        </p:nvSpPr>
        <p:spPr>
          <a:xfrm>
            <a:off x="411480" y="5870448"/>
            <a:ext cx="5303520" cy="384048"/>
          </a:xfrm>
          <a:prstGeom prst="rect">
            <a:avLst/>
          </a:prstGeom>
          <a:noFill/>
        </p:spPr>
        <p:txBody>
          <a:bodyPr wrap="square">
            <a:spAutoFit/>
          </a:bodyPr>
          <a:lstStyle/>
          <a:p>
            <a:pPr algn="l"/>
            <a:r>
              <a:rPr sz="1000" b="0" i="0">
                <a:solidFill>
                  <a:srgbClr val="CBD5E1"/>
                </a:solidFill>
              </a:rPr>
              <a:t>• Timestamps with UTC ISO-8601</a:t>
            </a:r>
          </a:p>
        </p:txBody>
      </p:sp>
      <p:sp>
        <p:nvSpPr>
          <p:cNvPr id="31" name="TextBox 30"/>
          <p:cNvSpPr txBox="1"/>
          <p:nvPr/>
        </p:nvSpPr>
        <p:spPr>
          <a:xfrm>
            <a:off x="411480" y="6272784"/>
            <a:ext cx="5303520" cy="384048"/>
          </a:xfrm>
          <a:prstGeom prst="rect">
            <a:avLst/>
          </a:prstGeom>
          <a:noFill/>
        </p:spPr>
        <p:txBody>
          <a:bodyPr wrap="square">
            <a:spAutoFit/>
          </a:bodyPr>
          <a:lstStyle/>
          <a:p>
            <a:pPr algn="l"/>
            <a:r>
              <a:rPr sz="1000" b="0" i="0">
                <a:solidFill>
                  <a:srgbClr val="CBD5E1"/>
                </a:solidFill>
              </a:rPr>
              <a:t>• Output: VerificationCertificate JSON</a:t>
            </a:r>
          </a:p>
        </p:txBody>
      </p:sp>
      <p:sp>
        <p:nvSpPr>
          <p:cNvPr id="32" name="Rectangle 31"/>
          <p:cNvSpPr/>
          <p:nvPr/>
        </p:nvSpPr>
        <p:spPr>
          <a:xfrm>
            <a:off x="6217920" y="4160520"/>
            <a:ext cx="5669280" cy="2606040"/>
          </a:xfrm>
          <a:prstGeom prst="rect">
            <a:avLst/>
          </a:prstGeom>
          <a:solidFill>
            <a:srgbClr val="161B27"/>
          </a:solidFill>
          <a:ln w="1524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17920" y="4160520"/>
            <a:ext cx="5669280" cy="41148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7920" y="4160520"/>
            <a:ext cx="4114800" cy="411480"/>
          </a:xfrm>
          <a:prstGeom prst="rect">
            <a:avLst/>
          </a:prstGeom>
          <a:noFill/>
        </p:spPr>
        <p:txBody>
          <a:bodyPr wrap="square">
            <a:spAutoFit/>
          </a:bodyPr>
          <a:lstStyle/>
          <a:p>
            <a:pPr algn="l"/>
            <a:r>
              <a:rPr sz="1400" b="1" i="0">
                <a:solidFill>
                  <a:srgbClr val="FFFFFF"/>
                </a:solidFill>
              </a:rPr>
              <a:t>Orchestrator</a:t>
            </a:r>
          </a:p>
        </p:txBody>
      </p:sp>
      <p:sp>
        <p:nvSpPr>
          <p:cNvPr id="35" name="TextBox 34"/>
          <p:cNvSpPr txBox="1"/>
          <p:nvPr/>
        </p:nvSpPr>
        <p:spPr>
          <a:xfrm>
            <a:off x="10332720" y="4160520"/>
            <a:ext cx="1463040" cy="411480"/>
          </a:xfrm>
          <a:prstGeom prst="rect">
            <a:avLst/>
          </a:prstGeom>
          <a:noFill/>
        </p:spPr>
        <p:txBody>
          <a:bodyPr wrap="square">
            <a:spAutoFit/>
          </a:bodyPr>
          <a:lstStyle/>
          <a:p>
            <a:pPr algn="r"/>
            <a:r>
              <a:rPr sz="900" b="0" i="0">
                <a:solidFill>
                  <a:srgbClr val="0D1117"/>
                </a:solidFill>
              </a:rPr>
              <a:t>orchestrator.py</a:t>
            </a:r>
          </a:p>
        </p:txBody>
      </p:sp>
      <p:sp>
        <p:nvSpPr>
          <p:cNvPr id="36" name="TextBox 35"/>
          <p:cNvSpPr txBox="1"/>
          <p:nvPr/>
        </p:nvSpPr>
        <p:spPr>
          <a:xfrm>
            <a:off x="6400800" y="4663440"/>
            <a:ext cx="5303520" cy="384048"/>
          </a:xfrm>
          <a:prstGeom prst="rect">
            <a:avLst/>
          </a:prstGeom>
          <a:noFill/>
        </p:spPr>
        <p:txBody>
          <a:bodyPr wrap="square">
            <a:spAutoFit/>
          </a:bodyPr>
          <a:lstStyle/>
          <a:p>
            <a:pPr algn="l"/>
            <a:r>
              <a:rPr sz="1000" b="0" i="0">
                <a:solidFill>
                  <a:srgbClr val="CBD5E1"/>
                </a:solidFill>
              </a:rPr>
              <a:t>• Iterates all VerifiedResults in EDA report</a:t>
            </a:r>
          </a:p>
        </p:txBody>
      </p:sp>
      <p:sp>
        <p:nvSpPr>
          <p:cNvPr id="37" name="TextBox 36"/>
          <p:cNvSpPr txBox="1"/>
          <p:nvPr/>
        </p:nvSpPr>
        <p:spPr>
          <a:xfrm>
            <a:off x="6400800" y="5065776"/>
            <a:ext cx="5303520" cy="384048"/>
          </a:xfrm>
          <a:prstGeom prst="rect">
            <a:avLst/>
          </a:prstGeom>
          <a:noFill/>
        </p:spPr>
        <p:txBody>
          <a:bodyPr wrap="square">
            <a:spAutoFit/>
          </a:bodyPr>
          <a:lstStyle/>
          <a:p>
            <a:pPr algn="l"/>
            <a:r>
              <a:rPr sz="1000" b="0" i="0">
                <a:solidFill>
                  <a:srgbClr val="CBD5E1"/>
                </a:solidFill>
              </a:rPr>
              <a:t>• Calls Translator → Prover → Certifier per result</a:t>
            </a:r>
          </a:p>
        </p:txBody>
      </p:sp>
      <p:sp>
        <p:nvSpPr>
          <p:cNvPr id="38" name="TextBox 37"/>
          <p:cNvSpPr txBox="1"/>
          <p:nvPr/>
        </p:nvSpPr>
        <p:spPr>
          <a:xfrm>
            <a:off x="6400800" y="5468112"/>
            <a:ext cx="5303520" cy="384048"/>
          </a:xfrm>
          <a:prstGeom prst="rect">
            <a:avLst/>
          </a:prstGeom>
          <a:noFill/>
        </p:spPr>
        <p:txBody>
          <a:bodyPr wrap="square">
            <a:spAutoFit/>
          </a:bodyPr>
          <a:lstStyle/>
          <a:p>
            <a:pPr algn="l"/>
            <a:r>
              <a:rPr sz="1000" b="0" i="0">
                <a:solidFill>
                  <a:srgbClr val="CBD5E1"/>
                </a:solidFill>
              </a:rPr>
              <a:t>• Emits structured VerificationEvent log</a:t>
            </a:r>
          </a:p>
        </p:txBody>
      </p:sp>
      <p:sp>
        <p:nvSpPr>
          <p:cNvPr id="39" name="TextBox 38"/>
          <p:cNvSpPr txBox="1"/>
          <p:nvPr/>
        </p:nvSpPr>
        <p:spPr>
          <a:xfrm>
            <a:off x="6400800" y="5870448"/>
            <a:ext cx="5303520" cy="384048"/>
          </a:xfrm>
          <a:prstGeom prst="rect">
            <a:avLst/>
          </a:prstGeom>
          <a:noFill/>
        </p:spPr>
        <p:txBody>
          <a:bodyPr wrap="square">
            <a:spAutoFit/>
          </a:bodyPr>
          <a:lstStyle/>
          <a:p>
            <a:pPr algn="l"/>
            <a:r>
              <a:rPr sz="1000" b="0" i="0">
                <a:solidFill>
                  <a:srgbClr val="CBD5E1"/>
                </a:solidFill>
              </a:rPr>
              <a:t>• Sets report status: fully/partially/unverified</a:t>
            </a:r>
          </a:p>
        </p:txBody>
      </p:sp>
      <p:sp>
        <p:nvSpPr>
          <p:cNvPr id="40" name="TextBox 39"/>
          <p:cNvSpPr txBox="1"/>
          <p:nvPr/>
        </p:nvSpPr>
        <p:spPr>
          <a:xfrm>
            <a:off x="6400800" y="6272784"/>
            <a:ext cx="5303520" cy="384048"/>
          </a:xfrm>
          <a:prstGeom prst="rect">
            <a:avLst/>
          </a:prstGeom>
          <a:noFill/>
        </p:spPr>
        <p:txBody>
          <a:bodyPr wrap="square">
            <a:spAutoFit/>
          </a:bodyPr>
          <a:lstStyle/>
          <a:p>
            <a:pPr algn="l"/>
            <a:r>
              <a:rPr sz="1000" b="0" i="0">
                <a:solidFill>
                  <a:srgbClr val="CBD5E1"/>
                </a:solidFill>
              </a:rPr>
              <a:t>• Real-time streaming via WebSocket to UI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i="0">
                <a:solidFill>
                  <a:srgbClr val="FFFFFF"/>
                </a:solidFill>
              </a:rPr>
              <a:t>Tamper-Evident Certificates</a:t>
            </a:r>
          </a:p>
        </p:txBody>
      </p:sp>
      <p:sp>
        <p:nvSpPr>
          <p:cNvPr id="4" name="TextBox 3"/>
          <p:cNvSpPr txBox="1"/>
          <p:nvPr/>
        </p:nvSpPr>
        <p:spPr>
          <a:xfrm>
            <a:off x="457200" y="777240"/>
            <a:ext cx="10972800" cy="411480"/>
          </a:xfrm>
          <a:prstGeom prst="rect">
            <a:avLst/>
          </a:prstGeom>
          <a:noFill/>
        </p:spPr>
        <p:txBody>
          <a:bodyPr wrap="square">
            <a:spAutoFit/>
          </a:bodyPr>
          <a:lstStyle/>
          <a:p>
            <a:pPr algn="l"/>
            <a:r>
              <a:rPr sz="1600" b="0" i="0">
                <a:solidFill>
                  <a:srgbClr val="10B981"/>
                </a:solidFill>
              </a:rPr>
              <a:t>Cryptographic binding: dataset + proof + result → immutable ID</a:t>
            </a:r>
          </a:p>
        </p:txBody>
      </p:sp>
      <p:sp>
        <p:nvSpPr>
          <p:cNvPr id="5" name="TextBox 4"/>
          <p:cNvSpPr txBox="1"/>
          <p:nvPr/>
        </p:nvSpPr>
        <p:spPr>
          <a:xfrm>
            <a:off x="457200" y="1371600"/>
            <a:ext cx="2560320" cy="475488"/>
          </a:xfrm>
          <a:prstGeom prst="rect">
            <a:avLst/>
          </a:prstGeom>
          <a:noFill/>
        </p:spPr>
        <p:txBody>
          <a:bodyPr wrap="square">
            <a:spAutoFit/>
          </a:bodyPr>
          <a:lstStyle/>
          <a:p>
            <a:pPr algn="l"/>
            <a:r>
              <a:rPr sz="1100" b="1" i="0">
                <a:solidFill>
                  <a:srgbClr val="10B981"/>
                </a:solidFill>
              </a:rPr>
              <a:t>certificate_id</a:t>
            </a:r>
          </a:p>
        </p:txBody>
      </p:sp>
      <p:sp>
        <p:nvSpPr>
          <p:cNvPr id="6" name="TextBox 5"/>
          <p:cNvSpPr txBox="1"/>
          <p:nvPr/>
        </p:nvSpPr>
        <p:spPr>
          <a:xfrm>
            <a:off x="3108960" y="1371600"/>
            <a:ext cx="8686800" cy="475488"/>
          </a:xfrm>
          <a:prstGeom prst="rect">
            <a:avLst/>
          </a:prstGeom>
          <a:noFill/>
        </p:spPr>
        <p:txBody>
          <a:bodyPr wrap="square">
            <a:spAutoFit/>
          </a:bodyPr>
          <a:lstStyle/>
          <a:p>
            <a:pPr algn="l"/>
            <a:r>
              <a:rPr sz="1100" b="0" i="0">
                <a:solidFill>
                  <a:srgbClr val="CBD5E1"/>
                </a:solidFill>
              </a:rPr>
              <a:t>SHA-256(dataset || column || op || proof)[:12]</a:t>
            </a:r>
          </a:p>
        </p:txBody>
      </p:sp>
      <p:sp>
        <p:nvSpPr>
          <p:cNvPr id="7" name="TextBox 6"/>
          <p:cNvSpPr txBox="1"/>
          <p:nvPr/>
        </p:nvSpPr>
        <p:spPr>
          <a:xfrm>
            <a:off x="457200" y="1920240"/>
            <a:ext cx="2560320" cy="475488"/>
          </a:xfrm>
          <a:prstGeom prst="rect">
            <a:avLst/>
          </a:prstGeom>
          <a:noFill/>
        </p:spPr>
        <p:txBody>
          <a:bodyPr wrap="square">
            <a:spAutoFit/>
          </a:bodyPr>
          <a:lstStyle/>
          <a:p>
            <a:pPr algn="l"/>
            <a:r>
              <a:rPr sz="1100" b="1" i="0">
                <a:solidFill>
                  <a:srgbClr val="3B82F6"/>
                </a:solidFill>
              </a:rPr>
              <a:t>dataset_hash</a:t>
            </a:r>
          </a:p>
        </p:txBody>
      </p:sp>
      <p:sp>
        <p:nvSpPr>
          <p:cNvPr id="8" name="TextBox 7"/>
          <p:cNvSpPr txBox="1"/>
          <p:nvPr/>
        </p:nvSpPr>
        <p:spPr>
          <a:xfrm>
            <a:off x="3108960" y="1920240"/>
            <a:ext cx="8686800" cy="475488"/>
          </a:xfrm>
          <a:prstGeom prst="rect">
            <a:avLst/>
          </a:prstGeom>
          <a:noFill/>
        </p:spPr>
        <p:txBody>
          <a:bodyPr wrap="square">
            <a:spAutoFit/>
          </a:bodyPr>
          <a:lstStyle/>
          <a:p>
            <a:pPr algn="l"/>
            <a:r>
              <a:rPr sz="1100" b="0" i="0">
                <a:solidFill>
                  <a:srgbClr val="CBD5E1"/>
                </a:solidFill>
              </a:rPr>
              <a:t>SHA-256(JSON(data))[:16] — ties cert to exact input</a:t>
            </a:r>
          </a:p>
        </p:txBody>
      </p:sp>
      <p:sp>
        <p:nvSpPr>
          <p:cNvPr id="9" name="TextBox 8"/>
          <p:cNvSpPr txBox="1"/>
          <p:nvPr/>
        </p:nvSpPr>
        <p:spPr>
          <a:xfrm>
            <a:off x="457200" y="2468880"/>
            <a:ext cx="2560320" cy="475488"/>
          </a:xfrm>
          <a:prstGeom prst="rect">
            <a:avLst/>
          </a:prstGeom>
          <a:noFill/>
        </p:spPr>
        <p:txBody>
          <a:bodyPr wrap="square">
            <a:spAutoFit/>
          </a:bodyPr>
          <a:lstStyle/>
          <a:p>
            <a:pPr algn="l"/>
            <a:r>
              <a:rPr sz="1100" b="1" i="0">
                <a:solidFill>
                  <a:srgbClr val="A85CFF"/>
                </a:solidFill>
              </a:rPr>
              <a:t>proof_hash</a:t>
            </a:r>
          </a:p>
        </p:txBody>
      </p:sp>
      <p:sp>
        <p:nvSpPr>
          <p:cNvPr id="10" name="TextBox 9"/>
          <p:cNvSpPr txBox="1"/>
          <p:nvPr/>
        </p:nvSpPr>
        <p:spPr>
          <a:xfrm>
            <a:off x="3108960" y="2468880"/>
            <a:ext cx="8686800" cy="475488"/>
          </a:xfrm>
          <a:prstGeom prst="rect">
            <a:avLst/>
          </a:prstGeom>
          <a:noFill/>
        </p:spPr>
        <p:txBody>
          <a:bodyPr wrap="square">
            <a:spAutoFit/>
          </a:bodyPr>
          <a:lstStyle/>
          <a:p>
            <a:pPr algn="l"/>
            <a:r>
              <a:rPr sz="1100" b="0" i="0">
                <a:solidFill>
                  <a:srgbClr val="CBD5E1"/>
                </a:solidFill>
              </a:rPr>
              <a:t>SHA-256(lean_proof_text)[:16]</a:t>
            </a:r>
          </a:p>
        </p:txBody>
      </p:sp>
      <p:sp>
        <p:nvSpPr>
          <p:cNvPr id="11" name="TextBox 10"/>
          <p:cNvSpPr txBox="1"/>
          <p:nvPr/>
        </p:nvSpPr>
        <p:spPr>
          <a:xfrm>
            <a:off x="457200" y="3017520"/>
            <a:ext cx="2560320" cy="475488"/>
          </a:xfrm>
          <a:prstGeom prst="rect">
            <a:avLst/>
          </a:prstGeom>
          <a:noFill/>
        </p:spPr>
        <p:txBody>
          <a:bodyPr wrap="square">
            <a:spAutoFit/>
          </a:bodyPr>
          <a:lstStyle/>
          <a:p>
            <a:pPr algn="l"/>
            <a:r>
              <a:rPr sz="1100" b="1" i="0">
                <a:solidFill>
                  <a:srgbClr val="06B6D4"/>
                </a:solidFill>
              </a:rPr>
              <a:t>lean_theorem</a:t>
            </a:r>
          </a:p>
        </p:txBody>
      </p:sp>
      <p:sp>
        <p:nvSpPr>
          <p:cNvPr id="12" name="TextBox 11"/>
          <p:cNvSpPr txBox="1"/>
          <p:nvPr/>
        </p:nvSpPr>
        <p:spPr>
          <a:xfrm>
            <a:off x="3108960" y="3017520"/>
            <a:ext cx="8686800" cy="475488"/>
          </a:xfrm>
          <a:prstGeom prst="rect">
            <a:avLst/>
          </a:prstGeom>
          <a:noFill/>
        </p:spPr>
        <p:txBody>
          <a:bodyPr wrap="square">
            <a:spAutoFit/>
          </a:bodyPr>
          <a:lstStyle/>
          <a:p>
            <a:pPr algn="l"/>
            <a:r>
              <a:rPr sz="1100" b="0" i="0">
                <a:solidFill>
                  <a:srgbClr val="CBD5E1"/>
                </a:solidFill>
              </a:rPr>
              <a:t>Name of the Lean 4 theorem that was proven</a:t>
            </a:r>
          </a:p>
        </p:txBody>
      </p:sp>
      <p:sp>
        <p:nvSpPr>
          <p:cNvPr id="13" name="TextBox 12"/>
          <p:cNvSpPr txBox="1"/>
          <p:nvPr/>
        </p:nvSpPr>
        <p:spPr>
          <a:xfrm>
            <a:off x="457200" y="3566160"/>
            <a:ext cx="2560320" cy="475488"/>
          </a:xfrm>
          <a:prstGeom prst="rect">
            <a:avLst/>
          </a:prstGeom>
          <a:noFill/>
        </p:spPr>
        <p:txBody>
          <a:bodyPr wrap="square">
            <a:spAutoFit/>
          </a:bodyPr>
          <a:lstStyle/>
          <a:p>
            <a:pPr algn="l"/>
            <a:r>
              <a:rPr sz="1100" b="1" i="0">
                <a:solidFill>
                  <a:srgbClr val="F59E0B"/>
                </a:solidFill>
              </a:rPr>
              <a:t>python_result</a:t>
            </a:r>
          </a:p>
        </p:txBody>
      </p:sp>
      <p:sp>
        <p:nvSpPr>
          <p:cNvPr id="14" name="TextBox 13"/>
          <p:cNvSpPr txBox="1"/>
          <p:nvPr/>
        </p:nvSpPr>
        <p:spPr>
          <a:xfrm>
            <a:off x="3108960" y="3566160"/>
            <a:ext cx="8686800" cy="475488"/>
          </a:xfrm>
          <a:prstGeom prst="rect">
            <a:avLst/>
          </a:prstGeom>
          <a:noFill/>
        </p:spPr>
        <p:txBody>
          <a:bodyPr wrap="square">
            <a:spAutoFit/>
          </a:bodyPr>
          <a:lstStyle/>
          <a:p>
            <a:pPr algn="l"/>
            <a:r>
              <a:rPr sz="1100" b="0" i="0">
                <a:solidFill>
                  <a:srgbClr val="CBD5E1"/>
                </a:solidFill>
              </a:rPr>
              <a:t>The floating-point value from Python</a:t>
            </a:r>
          </a:p>
        </p:txBody>
      </p:sp>
      <p:sp>
        <p:nvSpPr>
          <p:cNvPr id="15" name="TextBox 14"/>
          <p:cNvSpPr txBox="1"/>
          <p:nvPr/>
        </p:nvSpPr>
        <p:spPr>
          <a:xfrm>
            <a:off x="457200" y="4114800"/>
            <a:ext cx="2560320" cy="475488"/>
          </a:xfrm>
          <a:prstGeom prst="rect">
            <a:avLst/>
          </a:prstGeom>
          <a:noFill/>
        </p:spPr>
        <p:txBody>
          <a:bodyPr wrap="square">
            <a:spAutoFit/>
          </a:bodyPr>
          <a:lstStyle/>
          <a:p>
            <a:pPr algn="l"/>
            <a:r>
              <a:rPr sz="1100" b="1" i="0">
                <a:solidFill>
                  <a:srgbClr val="10B981"/>
                </a:solidFill>
              </a:rPr>
              <a:t>proof_status</a:t>
            </a:r>
          </a:p>
        </p:txBody>
      </p:sp>
      <p:sp>
        <p:nvSpPr>
          <p:cNvPr id="16" name="TextBox 15"/>
          <p:cNvSpPr txBox="1"/>
          <p:nvPr/>
        </p:nvSpPr>
        <p:spPr>
          <a:xfrm>
            <a:off x="3108960" y="4114800"/>
            <a:ext cx="8686800" cy="475488"/>
          </a:xfrm>
          <a:prstGeom prst="rect">
            <a:avLst/>
          </a:prstGeom>
          <a:noFill/>
        </p:spPr>
        <p:txBody>
          <a:bodyPr wrap="square">
            <a:spAutoFit/>
          </a:bodyPr>
          <a:lstStyle/>
          <a:p>
            <a:pPr algn="l"/>
            <a:r>
              <a:rPr sz="1100" b="0" i="0">
                <a:solidFill>
                  <a:srgbClr val="CBD5E1"/>
                </a:solidFill>
              </a:rPr>
              <a:t>proven | failed | timeout</a:t>
            </a:r>
          </a:p>
        </p:txBody>
      </p:sp>
      <p:sp>
        <p:nvSpPr>
          <p:cNvPr id="17" name="TextBox 16"/>
          <p:cNvSpPr txBox="1"/>
          <p:nvPr/>
        </p:nvSpPr>
        <p:spPr>
          <a:xfrm>
            <a:off x="457200" y="4663440"/>
            <a:ext cx="2560320" cy="475488"/>
          </a:xfrm>
          <a:prstGeom prst="rect">
            <a:avLst/>
          </a:prstGeom>
          <a:noFill/>
        </p:spPr>
        <p:txBody>
          <a:bodyPr wrap="square">
            <a:spAutoFit/>
          </a:bodyPr>
          <a:lstStyle/>
          <a:p>
            <a:pPr algn="l"/>
            <a:r>
              <a:rPr sz="1100" b="1" i="0">
                <a:solidFill>
                  <a:srgbClr val="CBD5E1"/>
                </a:solidFill>
              </a:rPr>
              <a:t>timestamp</a:t>
            </a:r>
          </a:p>
        </p:txBody>
      </p:sp>
      <p:sp>
        <p:nvSpPr>
          <p:cNvPr id="18" name="TextBox 17"/>
          <p:cNvSpPr txBox="1"/>
          <p:nvPr/>
        </p:nvSpPr>
        <p:spPr>
          <a:xfrm>
            <a:off x="3108960" y="4663440"/>
            <a:ext cx="8686800" cy="475488"/>
          </a:xfrm>
          <a:prstGeom prst="rect">
            <a:avLst/>
          </a:prstGeom>
          <a:noFill/>
        </p:spPr>
        <p:txBody>
          <a:bodyPr wrap="square">
            <a:spAutoFit/>
          </a:bodyPr>
          <a:lstStyle/>
          <a:p>
            <a:pPr algn="l"/>
            <a:r>
              <a:rPr sz="1100" b="0" i="0">
                <a:solidFill>
                  <a:srgbClr val="CBD5E1"/>
                </a:solidFill>
              </a:rPr>
              <a:t>UTC ISO-8601 at cert generation time</a:t>
            </a:r>
          </a:p>
        </p:txBody>
      </p:sp>
      <p:sp>
        <p:nvSpPr>
          <p:cNvPr id="19" name="TextBox 18"/>
          <p:cNvSpPr txBox="1"/>
          <p:nvPr/>
        </p:nvSpPr>
        <p:spPr>
          <a:xfrm>
            <a:off x="457200" y="5212080"/>
            <a:ext cx="2560320" cy="475488"/>
          </a:xfrm>
          <a:prstGeom prst="rect">
            <a:avLst/>
          </a:prstGeom>
          <a:noFill/>
        </p:spPr>
        <p:txBody>
          <a:bodyPr wrap="square">
            <a:spAutoFit/>
          </a:bodyPr>
          <a:lstStyle/>
          <a:p>
            <a:pPr algn="l"/>
            <a:r>
              <a:rPr sz="1100" b="1" i="0">
                <a:solidFill>
                  <a:srgbClr val="CBD5E1"/>
                </a:solidFill>
              </a:rPr>
              <a:t>agent_attempts</a:t>
            </a:r>
          </a:p>
        </p:txBody>
      </p:sp>
      <p:sp>
        <p:nvSpPr>
          <p:cNvPr id="20" name="TextBox 19"/>
          <p:cNvSpPr txBox="1"/>
          <p:nvPr/>
        </p:nvSpPr>
        <p:spPr>
          <a:xfrm>
            <a:off x="3108960" y="5212080"/>
            <a:ext cx="8686800" cy="475488"/>
          </a:xfrm>
          <a:prstGeom prst="rect">
            <a:avLst/>
          </a:prstGeom>
          <a:noFill/>
        </p:spPr>
        <p:txBody>
          <a:bodyPr wrap="square">
            <a:spAutoFit/>
          </a:bodyPr>
          <a:lstStyle/>
          <a:p>
            <a:pPr algn="l"/>
            <a:r>
              <a:rPr sz="1100" b="0" i="0">
                <a:solidFill>
                  <a:srgbClr val="CBD5E1"/>
                </a:solidFill>
              </a:rPr>
              <a:t>How many tactic attempts the Prover needed</a:t>
            </a:r>
          </a:p>
        </p:txBody>
      </p:sp>
      <p:sp>
        <p:nvSpPr>
          <p:cNvPr id="21" name="Rectangle 20"/>
          <p:cNvSpPr/>
          <p:nvPr/>
        </p:nvSpPr>
        <p:spPr>
          <a:xfrm>
            <a:off x="365760" y="5806440"/>
            <a:ext cx="11430000" cy="1097280"/>
          </a:xfrm>
          <a:prstGeom prst="rect">
            <a:avLst/>
          </a:prstGeom>
          <a:solidFill>
            <a:srgbClr val="0B1420"/>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852160"/>
            <a:ext cx="11155680" cy="1005840"/>
          </a:xfrm>
          <a:prstGeom prst="rect">
            <a:avLst/>
          </a:prstGeom>
          <a:noFill/>
        </p:spPr>
        <p:txBody>
          <a:bodyPr wrap="square">
            <a:spAutoFit/>
          </a:bodyPr>
          <a:lstStyle/>
          <a:p>
            <a:pPr algn="l"/>
            <a:r>
              <a:rPr sz="900" b="0" i="1">
                <a:solidFill>
                  <a:srgbClr val="10B981"/>
                </a:solidFill>
              </a:rPr>
              <a:t>{ "certificate_id": "a3f8c1d72e9b", "dataset_hash": "8f4a1b3c...", "operation": "variance", "column": "sales", "python_result": 1204.88, "lean_theorem": "variance_nonneg", "proof_status": "proven", "proof_hash": "7c3e9a2f...", "timestamp": "2026-04-30T10:12:34Z"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i="0">
                <a:solidFill>
                  <a:srgbClr val="FFFFFF"/>
                </a:solidFill>
              </a:rPr>
              <a:t>Mission Control Dashboard</a:t>
            </a:r>
          </a:p>
        </p:txBody>
      </p:sp>
      <p:sp>
        <p:nvSpPr>
          <p:cNvPr id="4" name="TextBox 3"/>
          <p:cNvSpPr txBox="1"/>
          <p:nvPr/>
        </p:nvSpPr>
        <p:spPr>
          <a:xfrm>
            <a:off x="457200" y="777240"/>
            <a:ext cx="10972800" cy="411480"/>
          </a:xfrm>
          <a:prstGeom prst="rect">
            <a:avLst/>
          </a:prstGeom>
          <a:noFill/>
        </p:spPr>
        <p:txBody>
          <a:bodyPr wrap="square">
            <a:spAutoFit/>
          </a:bodyPr>
          <a:lstStyle/>
          <a:p>
            <a:pPr algn="l"/>
            <a:r>
              <a:rPr sz="1500" b="0" i="0">
                <a:solidFill>
                  <a:srgbClr val="3B82F6"/>
                </a:solidFill>
              </a:rPr>
              <a:t>React + Vite frontend  ·  FastAPI backend  ·  WebSocket streaming</a:t>
            </a:r>
          </a:p>
        </p:txBody>
      </p:sp>
      <p:sp>
        <p:nvSpPr>
          <p:cNvPr id="5" name="Rectangle 4"/>
          <p:cNvSpPr/>
          <p:nvPr/>
        </p:nvSpPr>
        <p:spPr>
          <a:xfrm>
            <a:off x="228600" y="1325880"/>
            <a:ext cx="5669280" cy="2697480"/>
          </a:xfrm>
          <a:prstGeom prst="rect">
            <a:avLst/>
          </a:prstGeom>
          <a:solidFill>
            <a:srgbClr val="161B27"/>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325880"/>
            <a:ext cx="566928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25880"/>
            <a:ext cx="5669280" cy="411480"/>
          </a:xfrm>
          <a:prstGeom prst="rect">
            <a:avLst/>
          </a:prstGeom>
          <a:noFill/>
        </p:spPr>
        <p:txBody>
          <a:bodyPr wrap="square">
            <a:spAutoFit/>
          </a:bodyPr>
          <a:lstStyle/>
          <a:p>
            <a:pPr algn="ctr"/>
            <a:r>
              <a:rPr sz="1400" b="1" i="0">
                <a:solidFill>
                  <a:srgbClr val="FFFFFF"/>
                </a:solidFill>
              </a:rPr>
              <a:t>Analysis Tab</a:t>
            </a:r>
          </a:p>
        </p:txBody>
      </p:sp>
      <p:sp>
        <p:nvSpPr>
          <p:cNvPr id="8" name="TextBox 7"/>
          <p:cNvSpPr txBox="1"/>
          <p:nvPr/>
        </p:nvSpPr>
        <p:spPr>
          <a:xfrm>
            <a:off x="411480" y="1828800"/>
            <a:ext cx="5303520" cy="347472"/>
          </a:xfrm>
          <a:prstGeom prst="rect">
            <a:avLst/>
          </a:prstGeom>
          <a:noFill/>
        </p:spPr>
        <p:txBody>
          <a:bodyPr wrap="square">
            <a:spAutoFit/>
          </a:bodyPr>
          <a:lstStyle/>
          <a:p>
            <a:pPr algn="l"/>
            <a:r>
              <a:rPr sz="1000" b="0" i="0">
                <a:solidFill>
                  <a:srgbClr val="CBD5E1"/>
                </a:solidFill>
              </a:rPr>
              <a:t>• Upload CSV or choose sample dataset</a:t>
            </a:r>
          </a:p>
        </p:txBody>
      </p:sp>
      <p:sp>
        <p:nvSpPr>
          <p:cNvPr id="9" name="TextBox 8"/>
          <p:cNvSpPr txBox="1"/>
          <p:nvPr/>
        </p:nvSpPr>
        <p:spPr>
          <a:xfrm>
            <a:off x="411480" y="2194560"/>
            <a:ext cx="5303520" cy="347472"/>
          </a:xfrm>
          <a:prstGeom prst="rect">
            <a:avLst/>
          </a:prstGeom>
          <a:noFill/>
        </p:spPr>
        <p:txBody>
          <a:bodyPr wrap="square">
            <a:spAutoFit/>
          </a:bodyPr>
          <a:lstStyle/>
          <a:p>
            <a:pPr algn="l"/>
            <a:r>
              <a:rPr sz="1000" b="0" i="0">
                <a:solidFill>
                  <a:srgbClr val="CBD5E1"/>
                </a:solidFill>
              </a:rPr>
              <a:t>• Per-column stat cards (mean, std, median, variance)</a:t>
            </a:r>
          </a:p>
        </p:txBody>
      </p:sp>
      <p:sp>
        <p:nvSpPr>
          <p:cNvPr id="10" name="TextBox 9"/>
          <p:cNvSpPr txBox="1"/>
          <p:nvPr/>
        </p:nvSpPr>
        <p:spPr>
          <a:xfrm>
            <a:off x="411480" y="2560320"/>
            <a:ext cx="5303520" cy="347472"/>
          </a:xfrm>
          <a:prstGeom prst="rect">
            <a:avLst/>
          </a:prstGeom>
          <a:noFill/>
        </p:spPr>
        <p:txBody>
          <a:bodyPr wrap="square">
            <a:spAutoFit/>
          </a:bodyPr>
          <a:lstStyle/>
          <a:p>
            <a:pPr algn="l"/>
            <a:r>
              <a:rPr sz="1000" b="0" i="0">
                <a:solidFill>
                  <a:srgbClr val="CBD5E1"/>
                </a:solidFill>
              </a:rPr>
              <a:t>• Box-plot range visualisation</a:t>
            </a:r>
          </a:p>
        </p:txBody>
      </p:sp>
      <p:sp>
        <p:nvSpPr>
          <p:cNvPr id="11" name="TextBox 10"/>
          <p:cNvSpPr txBox="1"/>
          <p:nvPr/>
        </p:nvSpPr>
        <p:spPr>
          <a:xfrm>
            <a:off x="411480" y="2926080"/>
            <a:ext cx="5303520" cy="347472"/>
          </a:xfrm>
          <a:prstGeom prst="rect">
            <a:avLst/>
          </a:prstGeom>
          <a:noFill/>
        </p:spPr>
        <p:txBody>
          <a:bodyPr wrap="square">
            <a:spAutoFit/>
          </a:bodyPr>
          <a:lstStyle/>
          <a:p>
            <a:pPr algn="l"/>
            <a:r>
              <a:rPr sz="1000" b="0" i="0">
                <a:solidFill>
                  <a:srgbClr val="CBD5E1"/>
                </a:solidFill>
              </a:rPr>
              <a:t>• Recharts histogram</a:t>
            </a:r>
          </a:p>
        </p:txBody>
      </p:sp>
      <p:sp>
        <p:nvSpPr>
          <p:cNvPr id="12" name="TextBox 11"/>
          <p:cNvSpPr txBox="1"/>
          <p:nvPr/>
        </p:nvSpPr>
        <p:spPr>
          <a:xfrm>
            <a:off x="411480" y="3291840"/>
            <a:ext cx="5303520" cy="347472"/>
          </a:xfrm>
          <a:prstGeom prst="rect">
            <a:avLst/>
          </a:prstGeom>
          <a:noFill/>
        </p:spPr>
        <p:txBody>
          <a:bodyPr wrap="square">
            <a:spAutoFit/>
          </a:bodyPr>
          <a:lstStyle/>
          <a:p>
            <a:pPr algn="l"/>
            <a:r>
              <a:rPr sz="1000" b="0" i="0">
                <a:solidFill>
                  <a:srgbClr val="CBD5E1"/>
                </a:solidFill>
              </a:rPr>
              <a:t>• Correlation heatmap matrix</a:t>
            </a:r>
          </a:p>
        </p:txBody>
      </p:sp>
      <p:sp>
        <p:nvSpPr>
          <p:cNvPr id="13" name="TextBox 12"/>
          <p:cNvSpPr txBox="1"/>
          <p:nvPr/>
        </p:nvSpPr>
        <p:spPr>
          <a:xfrm>
            <a:off x="411480" y="3657600"/>
            <a:ext cx="5303520" cy="347472"/>
          </a:xfrm>
          <a:prstGeom prst="rect">
            <a:avLst/>
          </a:prstGeom>
          <a:noFill/>
        </p:spPr>
        <p:txBody>
          <a:bodyPr wrap="square">
            <a:spAutoFit/>
          </a:bodyPr>
          <a:lstStyle/>
          <a:p>
            <a:pPr algn="l"/>
            <a:r>
              <a:rPr sz="1000" b="0" i="0">
                <a:solidFill>
                  <a:srgbClr val="CBD5E1"/>
                </a:solidFill>
              </a:rPr>
              <a:t>• Sortable summary table</a:t>
            </a:r>
          </a:p>
        </p:txBody>
      </p:sp>
      <p:sp>
        <p:nvSpPr>
          <p:cNvPr id="14" name="Rectangle 13"/>
          <p:cNvSpPr/>
          <p:nvPr/>
        </p:nvSpPr>
        <p:spPr>
          <a:xfrm>
            <a:off x="6217920" y="1325880"/>
            <a:ext cx="5669280" cy="2697480"/>
          </a:xfrm>
          <a:prstGeom prst="rect">
            <a:avLst/>
          </a:prstGeom>
          <a:solidFill>
            <a:srgbClr val="161B27"/>
          </a:solidFill>
          <a:ln w="1524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325880"/>
            <a:ext cx="5669280" cy="41148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325880"/>
            <a:ext cx="5669280" cy="411480"/>
          </a:xfrm>
          <a:prstGeom prst="rect">
            <a:avLst/>
          </a:prstGeom>
          <a:noFill/>
        </p:spPr>
        <p:txBody>
          <a:bodyPr wrap="square">
            <a:spAutoFit/>
          </a:bodyPr>
          <a:lstStyle/>
          <a:p>
            <a:pPr algn="ctr"/>
            <a:r>
              <a:rPr sz="1400" b="1" i="0">
                <a:solidFill>
                  <a:srgbClr val="FFFFFF"/>
                </a:solidFill>
              </a:rPr>
              <a:t>Proofs Tab</a:t>
            </a:r>
          </a:p>
        </p:txBody>
      </p:sp>
      <p:sp>
        <p:nvSpPr>
          <p:cNvPr id="17" name="TextBox 16"/>
          <p:cNvSpPr txBox="1"/>
          <p:nvPr/>
        </p:nvSpPr>
        <p:spPr>
          <a:xfrm>
            <a:off x="6400800" y="1828800"/>
            <a:ext cx="5303520" cy="347472"/>
          </a:xfrm>
          <a:prstGeom prst="rect">
            <a:avLst/>
          </a:prstGeom>
          <a:noFill/>
        </p:spPr>
        <p:txBody>
          <a:bodyPr wrap="square">
            <a:spAutoFit/>
          </a:bodyPr>
          <a:lstStyle/>
          <a:p>
            <a:pPr algn="l"/>
            <a:r>
              <a:rPr sz="1000" b="0" i="0">
                <a:solidFill>
                  <a:srgbClr val="CBD5E1"/>
                </a:solidFill>
              </a:rPr>
              <a:t>• Full Lean 4 source with syntax highlighting</a:t>
            </a:r>
          </a:p>
        </p:txBody>
      </p:sp>
      <p:sp>
        <p:nvSpPr>
          <p:cNvPr id="18" name="TextBox 17"/>
          <p:cNvSpPr txBox="1"/>
          <p:nvPr/>
        </p:nvSpPr>
        <p:spPr>
          <a:xfrm>
            <a:off x="6400800" y="2194560"/>
            <a:ext cx="5303520" cy="347472"/>
          </a:xfrm>
          <a:prstGeom prst="rect">
            <a:avLst/>
          </a:prstGeom>
          <a:noFill/>
        </p:spPr>
        <p:txBody>
          <a:bodyPr wrap="square">
            <a:spAutoFit/>
          </a:bodyPr>
          <a:lstStyle/>
          <a:p>
            <a:pPr algn="l"/>
            <a:r>
              <a:rPr sz="1000" b="0" i="0">
                <a:solidFill>
                  <a:srgbClr val="CBD5E1"/>
                </a:solidFill>
              </a:rPr>
              <a:t>• Theorem source display</a:t>
            </a:r>
          </a:p>
        </p:txBody>
      </p:sp>
      <p:sp>
        <p:nvSpPr>
          <p:cNvPr id="19" name="TextBox 18"/>
          <p:cNvSpPr txBox="1"/>
          <p:nvPr/>
        </p:nvSpPr>
        <p:spPr>
          <a:xfrm>
            <a:off x="6400800" y="2560320"/>
            <a:ext cx="5303520" cy="347472"/>
          </a:xfrm>
          <a:prstGeom prst="rect">
            <a:avLst/>
          </a:prstGeom>
          <a:noFill/>
        </p:spPr>
        <p:txBody>
          <a:bodyPr wrap="square">
            <a:spAutoFit/>
          </a:bodyPr>
          <a:lstStyle/>
          <a:p>
            <a:pPr algn="l"/>
            <a:r>
              <a:rPr sz="1000" b="0" i="0">
                <a:solidFill>
                  <a:srgbClr val="CBD5E1"/>
                </a:solidFill>
              </a:rPr>
              <a:t>• SHA-256 certificate list per result</a:t>
            </a:r>
          </a:p>
        </p:txBody>
      </p:sp>
      <p:sp>
        <p:nvSpPr>
          <p:cNvPr id="20" name="TextBox 19"/>
          <p:cNvSpPr txBox="1"/>
          <p:nvPr/>
        </p:nvSpPr>
        <p:spPr>
          <a:xfrm>
            <a:off x="6400800" y="2926080"/>
            <a:ext cx="5303520" cy="347472"/>
          </a:xfrm>
          <a:prstGeom prst="rect">
            <a:avLst/>
          </a:prstGeom>
          <a:noFill/>
        </p:spPr>
        <p:txBody>
          <a:bodyPr wrap="square">
            <a:spAutoFit/>
          </a:bodyPr>
          <a:lstStyle/>
          <a:p>
            <a:pPr algn="l"/>
            <a:r>
              <a:rPr sz="1000" b="0" i="0">
                <a:solidFill>
                  <a:srgbClr val="CBD5E1"/>
                </a:solidFill>
              </a:rPr>
              <a:t>• Proof status badges (proven / failed)</a:t>
            </a:r>
          </a:p>
        </p:txBody>
      </p:sp>
      <p:sp>
        <p:nvSpPr>
          <p:cNvPr id="21" name="Rectangle 20"/>
          <p:cNvSpPr/>
          <p:nvPr/>
        </p:nvSpPr>
        <p:spPr>
          <a:xfrm>
            <a:off x="228600" y="4206240"/>
            <a:ext cx="5669280" cy="2697480"/>
          </a:xfrm>
          <a:prstGeom prst="rect">
            <a:avLst/>
          </a:prstGeom>
          <a:solidFill>
            <a:srgbClr val="161B2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28600" y="4206240"/>
            <a:ext cx="566928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8600" y="4206240"/>
            <a:ext cx="5669280" cy="411480"/>
          </a:xfrm>
          <a:prstGeom prst="rect">
            <a:avLst/>
          </a:prstGeom>
          <a:noFill/>
        </p:spPr>
        <p:txBody>
          <a:bodyPr wrap="square">
            <a:spAutoFit/>
          </a:bodyPr>
          <a:lstStyle/>
          <a:p>
            <a:pPr algn="ctr"/>
            <a:r>
              <a:rPr sz="1400" b="1" i="0">
                <a:solidFill>
                  <a:srgbClr val="FFFFFF"/>
                </a:solidFill>
              </a:rPr>
              <a:t>Agents Tab</a:t>
            </a:r>
          </a:p>
        </p:txBody>
      </p:sp>
      <p:sp>
        <p:nvSpPr>
          <p:cNvPr id="24" name="TextBox 23"/>
          <p:cNvSpPr txBox="1"/>
          <p:nvPr/>
        </p:nvSpPr>
        <p:spPr>
          <a:xfrm>
            <a:off x="411480" y="4709160"/>
            <a:ext cx="5303520" cy="347472"/>
          </a:xfrm>
          <a:prstGeom prst="rect">
            <a:avLst/>
          </a:prstGeom>
          <a:noFill/>
        </p:spPr>
        <p:txBody>
          <a:bodyPr wrap="square">
            <a:spAutoFit/>
          </a:bodyPr>
          <a:lstStyle/>
          <a:p>
            <a:pPr algn="l"/>
            <a:r>
              <a:rPr sz="1000" b="0" i="0">
                <a:solidFill>
                  <a:srgbClr val="CBD5E1"/>
                </a:solidFill>
              </a:rPr>
              <a:t>• Real-time streaming agent activity log</a:t>
            </a:r>
          </a:p>
        </p:txBody>
      </p:sp>
      <p:sp>
        <p:nvSpPr>
          <p:cNvPr id="25" name="TextBox 24"/>
          <p:cNvSpPr txBox="1"/>
          <p:nvPr/>
        </p:nvSpPr>
        <p:spPr>
          <a:xfrm>
            <a:off x="411480" y="5074920"/>
            <a:ext cx="5303520" cy="347472"/>
          </a:xfrm>
          <a:prstGeom prst="rect">
            <a:avLst/>
          </a:prstGeom>
          <a:noFill/>
        </p:spPr>
        <p:txBody>
          <a:bodyPr wrap="square">
            <a:spAutoFit/>
          </a:bodyPr>
          <a:lstStyle/>
          <a:p>
            <a:pPr algn="l"/>
            <a:r>
              <a:rPr sz="1000" b="0" i="0">
                <a:solidFill>
                  <a:srgbClr val="CBD5E1"/>
                </a:solidFill>
              </a:rPr>
              <a:t>• Agent status cards for all 4 agents</a:t>
            </a:r>
          </a:p>
        </p:txBody>
      </p:sp>
      <p:sp>
        <p:nvSpPr>
          <p:cNvPr id="26" name="TextBox 25"/>
          <p:cNvSpPr txBox="1"/>
          <p:nvPr/>
        </p:nvSpPr>
        <p:spPr>
          <a:xfrm>
            <a:off x="411480" y="5440680"/>
            <a:ext cx="5303520" cy="347472"/>
          </a:xfrm>
          <a:prstGeom prst="rect">
            <a:avLst/>
          </a:prstGeom>
          <a:noFill/>
        </p:spPr>
        <p:txBody>
          <a:bodyPr wrap="square">
            <a:spAutoFit/>
          </a:bodyPr>
          <a:lstStyle/>
          <a:p>
            <a:pPr algn="l"/>
            <a:r>
              <a:rPr sz="1000" b="0" i="0">
                <a:solidFill>
                  <a:srgbClr val="CBD5E1"/>
                </a:solidFill>
              </a:rPr>
              <a:t>• Architecture SVG diagram</a:t>
            </a:r>
          </a:p>
        </p:txBody>
      </p:sp>
      <p:sp>
        <p:nvSpPr>
          <p:cNvPr id="27" name="TextBox 26"/>
          <p:cNvSpPr txBox="1"/>
          <p:nvPr/>
        </p:nvSpPr>
        <p:spPr>
          <a:xfrm>
            <a:off x="411480" y="5806440"/>
            <a:ext cx="5303520" cy="347472"/>
          </a:xfrm>
          <a:prstGeom prst="rect">
            <a:avLst/>
          </a:prstGeom>
          <a:noFill/>
        </p:spPr>
        <p:txBody>
          <a:bodyPr wrap="square">
            <a:spAutoFit/>
          </a:bodyPr>
          <a:lstStyle/>
          <a:p>
            <a:pPr algn="l"/>
            <a:r>
              <a:rPr sz="1000" b="0" i="0">
                <a:solidFill>
                  <a:srgbClr val="CBD5E1"/>
                </a:solidFill>
              </a:rPr>
              <a:t>• WebSocket connected to /ws/verify</a:t>
            </a:r>
          </a:p>
        </p:txBody>
      </p:sp>
      <p:sp>
        <p:nvSpPr>
          <p:cNvPr id="28" name="Rectangle 27"/>
          <p:cNvSpPr/>
          <p:nvPr/>
        </p:nvSpPr>
        <p:spPr>
          <a:xfrm>
            <a:off x="6217920" y="4206240"/>
            <a:ext cx="5669280" cy="2697480"/>
          </a:xfrm>
          <a:prstGeom prst="rect">
            <a:avLst/>
          </a:prstGeom>
          <a:solidFill>
            <a:srgbClr val="161B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4206240"/>
            <a:ext cx="56692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0" y="4206240"/>
            <a:ext cx="5669280" cy="411480"/>
          </a:xfrm>
          <a:prstGeom prst="rect">
            <a:avLst/>
          </a:prstGeom>
          <a:noFill/>
        </p:spPr>
        <p:txBody>
          <a:bodyPr wrap="square">
            <a:spAutoFit/>
          </a:bodyPr>
          <a:lstStyle/>
          <a:p>
            <a:pPr algn="ctr"/>
            <a:r>
              <a:rPr sz="1400" b="1" i="0">
                <a:solidFill>
                  <a:srgbClr val="FFFFFF"/>
                </a:solidFill>
              </a:rPr>
              <a:t>Lean 4 Tab</a:t>
            </a:r>
          </a:p>
        </p:txBody>
      </p:sp>
      <p:sp>
        <p:nvSpPr>
          <p:cNvPr id="31" name="TextBox 30"/>
          <p:cNvSpPr txBox="1"/>
          <p:nvPr/>
        </p:nvSpPr>
        <p:spPr>
          <a:xfrm>
            <a:off x="6400800" y="4709160"/>
            <a:ext cx="5303520" cy="347472"/>
          </a:xfrm>
          <a:prstGeom prst="rect">
            <a:avLst/>
          </a:prstGeom>
          <a:noFill/>
        </p:spPr>
        <p:txBody>
          <a:bodyPr wrap="square">
            <a:spAutoFit/>
          </a:bodyPr>
          <a:lstStyle/>
          <a:p>
            <a:pPr algn="l"/>
            <a:r>
              <a:rPr sz="1000" b="0" i="0">
                <a:solidFill>
                  <a:srgbClr val="CBD5E1"/>
                </a:solidFill>
              </a:rPr>
              <a:t>• Auto-detects local Lean 4 installation</a:t>
            </a:r>
          </a:p>
        </p:txBody>
      </p:sp>
      <p:sp>
        <p:nvSpPr>
          <p:cNvPr id="32" name="TextBox 31"/>
          <p:cNvSpPr txBox="1"/>
          <p:nvPr/>
        </p:nvSpPr>
        <p:spPr>
          <a:xfrm>
            <a:off x="6400800" y="5074920"/>
            <a:ext cx="5303520" cy="347472"/>
          </a:xfrm>
          <a:prstGeom prst="rect">
            <a:avLst/>
          </a:prstGeom>
          <a:noFill/>
        </p:spPr>
        <p:txBody>
          <a:bodyPr wrap="square">
            <a:spAutoFit/>
          </a:bodyPr>
          <a:lstStyle/>
          <a:p>
            <a:pPr algn="l"/>
            <a:r>
              <a:rPr sz="1000" b="0" i="0">
                <a:solidFill>
                  <a:srgbClr val="CBD5E1"/>
                </a:solidFill>
              </a:rPr>
              <a:t>• Lean version, path, Lake availability</a:t>
            </a:r>
          </a:p>
        </p:txBody>
      </p:sp>
      <p:sp>
        <p:nvSpPr>
          <p:cNvPr id="33" name="TextBox 32"/>
          <p:cNvSpPr txBox="1"/>
          <p:nvPr/>
        </p:nvSpPr>
        <p:spPr>
          <a:xfrm>
            <a:off x="6400800" y="5440680"/>
            <a:ext cx="5303520" cy="347472"/>
          </a:xfrm>
          <a:prstGeom prst="rect">
            <a:avLst/>
          </a:prstGeom>
          <a:noFill/>
        </p:spPr>
        <p:txBody>
          <a:bodyPr wrap="square">
            <a:spAutoFit/>
          </a:bodyPr>
          <a:lstStyle/>
          <a:p>
            <a:pPr algn="l"/>
            <a:r>
              <a:rPr sz="1000" b="0" i="0">
                <a:solidFill>
                  <a:srgbClr val="CBD5E1"/>
                </a:solidFill>
              </a:rPr>
              <a:t>• Build &amp; Type-Check button → runs lake build</a:t>
            </a:r>
          </a:p>
        </p:txBody>
      </p:sp>
      <p:sp>
        <p:nvSpPr>
          <p:cNvPr id="34" name="TextBox 33"/>
          <p:cNvSpPr txBox="1"/>
          <p:nvPr/>
        </p:nvSpPr>
        <p:spPr>
          <a:xfrm>
            <a:off x="6400800" y="5806440"/>
            <a:ext cx="5303520" cy="347472"/>
          </a:xfrm>
          <a:prstGeom prst="rect">
            <a:avLst/>
          </a:prstGeom>
          <a:noFill/>
        </p:spPr>
        <p:txBody>
          <a:bodyPr wrap="square">
            <a:spAutoFit/>
          </a:bodyPr>
          <a:lstStyle/>
          <a:p>
            <a:pPr algn="l"/>
            <a:r>
              <a:rPr sz="1000" b="0" i="0">
                <a:solidFill>
                  <a:srgbClr val="CBD5E1"/>
                </a:solidFill>
              </a:rPr>
              <a:t>• Lists all theorems with proven / sorry status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Technology Stack</a:t>
            </a:r>
          </a:p>
        </p:txBody>
      </p:sp>
      <p:sp>
        <p:nvSpPr>
          <p:cNvPr id="4" name="Rectangle 3"/>
          <p:cNvSpPr/>
          <p:nvPr/>
        </p:nvSpPr>
        <p:spPr>
          <a:xfrm>
            <a:off x="228600" y="1188720"/>
            <a:ext cx="5669280" cy="2743200"/>
          </a:xfrm>
          <a:prstGeom prst="rect">
            <a:avLst/>
          </a:prstGeom>
          <a:solidFill>
            <a:srgbClr val="161B27"/>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8600" y="1188720"/>
            <a:ext cx="566928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8600" y="1188720"/>
            <a:ext cx="5669280" cy="411480"/>
          </a:xfrm>
          <a:prstGeom prst="rect">
            <a:avLst/>
          </a:prstGeom>
          <a:noFill/>
        </p:spPr>
        <p:txBody>
          <a:bodyPr wrap="square">
            <a:spAutoFit/>
          </a:bodyPr>
          <a:lstStyle/>
          <a:p>
            <a:pPr algn="ctr"/>
            <a:r>
              <a:rPr sz="1300" b="1" i="0">
                <a:solidFill>
                  <a:srgbClr val="FFFFFF"/>
                </a:solidFill>
              </a:rPr>
              <a:t>Core / Backend</a:t>
            </a:r>
          </a:p>
        </p:txBody>
      </p:sp>
      <p:sp>
        <p:nvSpPr>
          <p:cNvPr id="7" name="TextBox 6"/>
          <p:cNvSpPr txBox="1"/>
          <p:nvPr/>
        </p:nvSpPr>
        <p:spPr>
          <a:xfrm>
            <a:off x="365760" y="1691640"/>
            <a:ext cx="1828800" cy="502920"/>
          </a:xfrm>
          <a:prstGeom prst="rect">
            <a:avLst/>
          </a:prstGeom>
          <a:noFill/>
        </p:spPr>
        <p:txBody>
          <a:bodyPr wrap="square">
            <a:spAutoFit/>
          </a:bodyPr>
          <a:lstStyle/>
          <a:p>
            <a:pPr algn="l"/>
            <a:r>
              <a:rPr sz="1100" b="1" i="0">
                <a:solidFill>
                  <a:srgbClr val="3B82F6"/>
                </a:solidFill>
              </a:rPr>
              <a:t>Python 3.11+</a:t>
            </a:r>
          </a:p>
        </p:txBody>
      </p:sp>
      <p:sp>
        <p:nvSpPr>
          <p:cNvPr id="8" name="TextBox 7"/>
          <p:cNvSpPr txBox="1"/>
          <p:nvPr/>
        </p:nvSpPr>
        <p:spPr>
          <a:xfrm>
            <a:off x="2240280" y="1691640"/>
            <a:ext cx="3474720" cy="502920"/>
          </a:xfrm>
          <a:prstGeom prst="rect">
            <a:avLst/>
          </a:prstGeom>
          <a:noFill/>
        </p:spPr>
        <p:txBody>
          <a:bodyPr wrap="square">
            <a:spAutoFit/>
          </a:bodyPr>
          <a:lstStyle/>
          <a:p>
            <a:pPr algn="l"/>
            <a:r>
              <a:rPr sz="1000" b="0" i="0">
                <a:solidFill>
                  <a:srgbClr val="CBD5E1"/>
                </a:solidFill>
              </a:rPr>
              <a:t>Data analysis library + agent orchestration</a:t>
            </a:r>
          </a:p>
        </p:txBody>
      </p:sp>
      <p:sp>
        <p:nvSpPr>
          <p:cNvPr id="9" name="TextBox 8"/>
          <p:cNvSpPr txBox="1"/>
          <p:nvPr/>
        </p:nvSpPr>
        <p:spPr>
          <a:xfrm>
            <a:off x="365760" y="2240280"/>
            <a:ext cx="1828800" cy="502920"/>
          </a:xfrm>
          <a:prstGeom prst="rect">
            <a:avLst/>
          </a:prstGeom>
          <a:noFill/>
        </p:spPr>
        <p:txBody>
          <a:bodyPr wrap="square">
            <a:spAutoFit/>
          </a:bodyPr>
          <a:lstStyle/>
          <a:p>
            <a:pPr algn="l"/>
            <a:r>
              <a:rPr sz="1100" b="1" i="0">
                <a:solidFill>
                  <a:srgbClr val="3B82F6"/>
                </a:solidFill>
              </a:rPr>
              <a:t>FastAPI</a:t>
            </a:r>
          </a:p>
        </p:txBody>
      </p:sp>
      <p:sp>
        <p:nvSpPr>
          <p:cNvPr id="10" name="TextBox 9"/>
          <p:cNvSpPr txBox="1"/>
          <p:nvPr/>
        </p:nvSpPr>
        <p:spPr>
          <a:xfrm>
            <a:off x="2240280" y="2240280"/>
            <a:ext cx="3474720" cy="502920"/>
          </a:xfrm>
          <a:prstGeom prst="rect">
            <a:avLst/>
          </a:prstGeom>
          <a:noFill/>
        </p:spPr>
        <p:txBody>
          <a:bodyPr wrap="square">
            <a:spAutoFit/>
          </a:bodyPr>
          <a:lstStyle/>
          <a:p>
            <a:pPr algn="l"/>
            <a:r>
              <a:rPr sz="1000" b="0" i="0">
                <a:solidFill>
                  <a:srgbClr val="CBD5E1"/>
                </a:solidFill>
              </a:rPr>
              <a:t>REST + WebSocket server (:8420)</a:t>
            </a:r>
          </a:p>
        </p:txBody>
      </p:sp>
      <p:sp>
        <p:nvSpPr>
          <p:cNvPr id="11" name="TextBox 10"/>
          <p:cNvSpPr txBox="1"/>
          <p:nvPr/>
        </p:nvSpPr>
        <p:spPr>
          <a:xfrm>
            <a:off x="365760" y="2788920"/>
            <a:ext cx="1828800" cy="502920"/>
          </a:xfrm>
          <a:prstGeom prst="rect">
            <a:avLst/>
          </a:prstGeom>
          <a:noFill/>
        </p:spPr>
        <p:txBody>
          <a:bodyPr wrap="square">
            <a:spAutoFit/>
          </a:bodyPr>
          <a:lstStyle/>
          <a:p>
            <a:pPr algn="l"/>
            <a:r>
              <a:rPr sz="1100" b="1" i="0">
                <a:solidFill>
                  <a:srgbClr val="3B82F6"/>
                </a:solidFill>
              </a:rPr>
              <a:t>Uvicorn</a:t>
            </a:r>
          </a:p>
        </p:txBody>
      </p:sp>
      <p:sp>
        <p:nvSpPr>
          <p:cNvPr id="12" name="TextBox 11"/>
          <p:cNvSpPr txBox="1"/>
          <p:nvPr/>
        </p:nvSpPr>
        <p:spPr>
          <a:xfrm>
            <a:off x="2240280" y="2788920"/>
            <a:ext cx="3474720" cy="502920"/>
          </a:xfrm>
          <a:prstGeom prst="rect">
            <a:avLst/>
          </a:prstGeom>
          <a:noFill/>
        </p:spPr>
        <p:txBody>
          <a:bodyPr wrap="square">
            <a:spAutoFit/>
          </a:bodyPr>
          <a:lstStyle/>
          <a:p>
            <a:pPr algn="l"/>
            <a:r>
              <a:rPr sz="1000" b="0" i="0">
                <a:solidFill>
                  <a:srgbClr val="CBD5E1"/>
                </a:solidFill>
              </a:rPr>
              <a:t>ASGI server</a:t>
            </a:r>
          </a:p>
        </p:txBody>
      </p:sp>
      <p:sp>
        <p:nvSpPr>
          <p:cNvPr id="13" name="TextBox 12"/>
          <p:cNvSpPr txBox="1"/>
          <p:nvPr/>
        </p:nvSpPr>
        <p:spPr>
          <a:xfrm>
            <a:off x="365760" y="3337559"/>
            <a:ext cx="1828800" cy="502920"/>
          </a:xfrm>
          <a:prstGeom prst="rect">
            <a:avLst/>
          </a:prstGeom>
          <a:noFill/>
        </p:spPr>
        <p:txBody>
          <a:bodyPr wrap="square">
            <a:spAutoFit/>
          </a:bodyPr>
          <a:lstStyle/>
          <a:p>
            <a:pPr algn="l"/>
            <a:r>
              <a:rPr sz="1100" b="1" i="0">
                <a:solidFill>
                  <a:srgbClr val="3B82F6"/>
                </a:solidFill>
              </a:rPr>
              <a:t>pytest + Hypothesis</a:t>
            </a:r>
          </a:p>
        </p:txBody>
      </p:sp>
      <p:sp>
        <p:nvSpPr>
          <p:cNvPr id="14" name="TextBox 13"/>
          <p:cNvSpPr txBox="1"/>
          <p:nvPr/>
        </p:nvSpPr>
        <p:spPr>
          <a:xfrm>
            <a:off x="2240280" y="3337559"/>
            <a:ext cx="3474720" cy="502920"/>
          </a:xfrm>
          <a:prstGeom prst="rect">
            <a:avLst/>
          </a:prstGeom>
          <a:noFill/>
        </p:spPr>
        <p:txBody>
          <a:bodyPr wrap="square">
            <a:spAutoFit/>
          </a:bodyPr>
          <a:lstStyle/>
          <a:p>
            <a:pPr algn="l"/>
            <a:r>
              <a:rPr sz="1000" b="0" i="0">
                <a:solidFill>
                  <a:srgbClr val="CBD5E1"/>
                </a:solidFill>
              </a:rPr>
              <a:t>49 tests · 2500 property checks</a:t>
            </a:r>
          </a:p>
        </p:txBody>
      </p:sp>
      <p:sp>
        <p:nvSpPr>
          <p:cNvPr id="15" name="Rectangle 14"/>
          <p:cNvSpPr/>
          <p:nvPr/>
        </p:nvSpPr>
        <p:spPr>
          <a:xfrm>
            <a:off x="6217920" y="1188720"/>
            <a:ext cx="5669280" cy="2743200"/>
          </a:xfrm>
          <a:prstGeom prst="rect">
            <a:avLst/>
          </a:prstGeom>
          <a:solidFill>
            <a:srgbClr val="161B27"/>
          </a:solidFill>
          <a:ln w="1524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188720"/>
            <a:ext cx="5669280" cy="41148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188720"/>
            <a:ext cx="5669280" cy="411480"/>
          </a:xfrm>
          <a:prstGeom prst="rect">
            <a:avLst/>
          </a:prstGeom>
          <a:noFill/>
        </p:spPr>
        <p:txBody>
          <a:bodyPr wrap="square">
            <a:spAutoFit/>
          </a:bodyPr>
          <a:lstStyle/>
          <a:p>
            <a:pPr algn="ctr"/>
            <a:r>
              <a:rPr sz="1300" b="1" i="0">
                <a:solidFill>
                  <a:srgbClr val="FFFFFF"/>
                </a:solidFill>
              </a:rPr>
              <a:t>Formal Methods</a:t>
            </a:r>
          </a:p>
        </p:txBody>
      </p:sp>
      <p:sp>
        <p:nvSpPr>
          <p:cNvPr id="18" name="TextBox 17"/>
          <p:cNvSpPr txBox="1"/>
          <p:nvPr/>
        </p:nvSpPr>
        <p:spPr>
          <a:xfrm>
            <a:off x="6355080" y="1691640"/>
            <a:ext cx="1828800" cy="502920"/>
          </a:xfrm>
          <a:prstGeom prst="rect">
            <a:avLst/>
          </a:prstGeom>
          <a:noFill/>
        </p:spPr>
        <p:txBody>
          <a:bodyPr wrap="square">
            <a:spAutoFit/>
          </a:bodyPr>
          <a:lstStyle/>
          <a:p>
            <a:pPr algn="l"/>
            <a:r>
              <a:rPr sz="1100" b="1" i="0">
                <a:solidFill>
                  <a:srgbClr val="A85CFF"/>
                </a:solidFill>
              </a:rPr>
              <a:t>Lean 4 (≥4.8.0)</a:t>
            </a:r>
          </a:p>
        </p:txBody>
      </p:sp>
      <p:sp>
        <p:nvSpPr>
          <p:cNvPr id="19" name="TextBox 18"/>
          <p:cNvSpPr txBox="1"/>
          <p:nvPr/>
        </p:nvSpPr>
        <p:spPr>
          <a:xfrm>
            <a:off x="8229600" y="1691640"/>
            <a:ext cx="3474720" cy="502920"/>
          </a:xfrm>
          <a:prstGeom prst="rect">
            <a:avLst/>
          </a:prstGeom>
          <a:noFill/>
        </p:spPr>
        <p:txBody>
          <a:bodyPr wrap="square">
            <a:spAutoFit/>
          </a:bodyPr>
          <a:lstStyle/>
          <a:p>
            <a:pPr algn="l"/>
            <a:r>
              <a:rPr sz="1000" b="0" i="0">
                <a:solidFill>
                  <a:srgbClr val="CBD5E1"/>
                </a:solidFill>
              </a:rPr>
              <a:t>Dependently-typed proof assistant</a:t>
            </a:r>
          </a:p>
        </p:txBody>
      </p:sp>
      <p:sp>
        <p:nvSpPr>
          <p:cNvPr id="20" name="TextBox 19"/>
          <p:cNvSpPr txBox="1"/>
          <p:nvPr/>
        </p:nvSpPr>
        <p:spPr>
          <a:xfrm>
            <a:off x="6355080" y="2240280"/>
            <a:ext cx="1828800" cy="502920"/>
          </a:xfrm>
          <a:prstGeom prst="rect">
            <a:avLst/>
          </a:prstGeom>
          <a:noFill/>
        </p:spPr>
        <p:txBody>
          <a:bodyPr wrap="square">
            <a:spAutoFit/>
          </a:bodyPr>
          <a:lstStyle/>
          <a:p>
            <a:pPr algn="l"/>
            <a:r>
              <a:rPr sz="1100" b="1" i="0">
                <a:solidFill>
                  <a:srgbClr val="A85CFF"/>
                </a:solidFill>
              </a:rPr>
              <a:t>Mathlib</a:t>
            </a:r>
          </a:p>
        </p:txBody>
      </p:sp>
      <p:sp>
        <p:nvSpPr>
          <p:cNvPr id="21" name="TextBox 20"/>
          <p:cNvSpPr txBox="1"/>
          <p:nvPr/>
        </p:nvSpPr>
        <p:spPr>
          <a:xfrm>
            <a:off x="8229600" y="2240280"/>
            <a:ext cx="3474720" cy="502920"/>
          </a:xfrm>
          <a:prstGeom prst="rect">
            <a:avLst/>
          </a:prstGeom>
          <a:noFill/>
        </p:spPr>
        <p:txBody>
          <a:bodyPr wrap="square">
            <a:spAutoFit/>
          </a:bodyPr>
          <a:lstStyle/>
          <a:p>
            <a:pPr algn="l"/>
            <a:r>
              <a:rPr sz="1000" b="0" i="0">
                <a:solidFill>
                  <a:srgbClr val="CBD5E1"/>
                </a:solidFill>
              </a:rPr>
              <a:t>Mathematics library for Lean</a:t>
            </a:r>
          </a:p>
        </p:txBody>
      </p:sp>
      <p:sp>
        <p:nvSpPr>
          <p:cNvPr id="22" name="TextBox 21"/>
          <p:cNvSpPr txBox="1"/>
          <p:nvPr/>
        </p:nvSpPr>
        <p:spPr>
          <a:xfrm>
            <a:off x="6355080" y="2788920"/>
            <a:ext cx="1828800" cy="502920"/>
          </a:xfrm>
          <a:prstGeom prst="rect">
            <a:avLst/>
          </a:prstGeom>
          <a:noFill/>
        </p:spPr>
        <p:txBody>
          <a:bodyPr wrap="square">
            <a:spAutoFit/>
          </a:bodyPr>
          <a:lstStyle/>
          <a:p>
            <a:pPr algn="l"/>
            <a:r>
              <a:rPr sz="1100" b="1" i="0">
                <a:solidFill>
                  <a:srgbClr val="A85CFF"/>
                </a:solidFill>
              </a:rPr>
              <a:t>Lake</a:t>
            </a:r>
          </a:p>
        </p:txBody>
      </p:sp>
      <p:sp>
        <p:nvSpPr>
          <p:cNvPr id="23" name="TextBox 22"/>
          <p:cNvSpPr txBox="1"/>
          <p:nvPr/>
        </p:nvSpPr>
        <p:spPr>
          <a:xfrm>
            <a:off x="8229600" y="2788920"/>
            <a:ext cx="3474720" cy="502920"/>
          </a:xfrm>
          <a:prstGeom prst="rect">
            <a:avLst/>
          </a:prstGeom>
          <a:noFill/>
        </p:spPr>
        <p:txBody>
          <a:bodyPr wrap="square">
            <a:spAutoFit/>
          </a:bodyPr>
          <a:lstStyle/>
          <a:p>
            <a:pPr algn="l"/>
            <a:r>
              <a:rPr sz="1000" b="0" i="0">
                <a:solidFill>
                  <a:srgbClr val="CBD5E1"/>
                </a:solidFill>
              </a:rPr>
              <a:t>Lean build system (like cargo / maven)</a:t>
            </a:r>
          </a:p>
        </p:txBody>
      </p:sp>
      <p:sp>
        <p:nvSpPr>
          <p:cNvPr id="24" name="TextBox 23"/>
          <p:cNvSpPr txBox="1"/>
          <p:nvPr/>
        </p:nvSpPr>
        <p:spPr>
          <a:xfrm>
            <a:off x="6355080" y="3337559"/>
            <a:ext cx="1828800" cy="502920"/>
          </a:xfrm>
          <a:prstGeom prst="rect">
            <a:avLst/>
          </a:prstGeom>
          <a:noFill/>
        </p:spPr>
        <p:txBody>
          <a:bodyPr wrap="square">
            <a:spAutoFit/>
          </a:bodyPr>
          <a:lstStyle/>
          <a:p>
            <a:pPr algn="l"/>
            <a:r>
              <a:rPr sz="1100" b="1" i="0">
                <a:solidFill>
                  <a:srgbClr val="A85CFF"/>
                </a:solidFill>
              </a:rPr>
              <a:t>elan</a:t>
            </a:r>
          </a:p>
        </p:txBody>
      </p:sp>
      <p:sp>
        <p:nvSpPr>
          <p:cNvPr id="25" name="TextBox 24"/>
          <p:cNvSpPr txBox="1"/>
          <p:nvPr/>
        </p:nvSpPr>
        <p:spPr>
          <a:xfrm>
            <a:off x="8229600" y="3337559"/>
            <a:ext cx="3474720" cy="502920"/>
          </a:xfrm>
          <a:prstGeom prst="rect">
            <a:avLst/>
          </a:prstGeom>
          <a:noFill/>
        </p:spPr>
        <p:txBody>
          <a:bodyPr wrap="square">
            <a:spAutoFit/>
          </a:bodyPr>
          <a:lstStyle/>
          <a:p>
            <a:pPr algn="l"/>
            <a:r>
              <a:rPr sz="1000" b="0" i="0">
                <a:solidFill>
                  <a:srgbClr val="CBD5E1"/>
                </a:solidFill>
              </a:rPr>
              <a:t>Lean toolchain manager</a:t>
            </a:r>
          </a:p>
        </p:txBody>
      </p:sp>
      <p:sp>
        <p:nvSpPr>
          <p:cNvPr id="26" name="Rectangle 25"/>
          <p:cNvSpPr/>
          <p:nvPr/>
        </p:nvSpPr>
        <p:spPr>
          <a:xfrm>
            <a:off x="228600" y="4160520"/>
            <a:ext cx="5669280" cy="2743200"/>
          </a:xfrm>
          <a:prstGeom prst="rect">
            <a:avLst/>
          </a:prstGeom>
          <a:solidFill>
            <a:srgbClr val="161B2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4160520"/>
            <a:ext cx="566928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8600" y="4160520"/>
            <a:ext cx="5669280" cy="411480"/>
          </a:xfrm>
          <a:prstGeom prst="rect">
            <a:avLst/>
          </a:prstGeom>
          <a:noFill/>
        </p:spPr>
        <p:txBody>
          <a:bodyPr wrap="square">
            <a:spAutoFit/>
          </a:bodyPr>
          <a:lstStyle/>
          <a:p>
            <a:pPr algn="ctr"/>
            <a:r>
              <a:rPr sz="1300" b="1" i="0">
                <a:solidFill>
                  <a:srgbClr val="FFFFFF"/>
                </a:solidFill>
              </a:rPr>
              <a:t>Frontend</a:t>
            </a:r>
          </a:p>
        </p:txBody>
      </p:sp>
      <p:sp>
        <p:nvSpPr>
          <p:cNvPr id="29" name="TextBox 28"/>
          <p:cNvSpPr txBox="1"/>
          <p:nvPr/>
        </p:nvSpPr>
        <p:spPr>
          <a:xfrm>
            <a:off x="365760" y="4663440"/>
            <a:ext cx="1828800" cy="502920"/>
          </a:xfrm>
          <a:prstGeom prst="rect">
            <a:avLst/>
          </a:prstGeom>
          <a:noFill/>
        </p:spPr>
        <p:txBody>
          <a:bodyPr wrap="square">
            <a:spAutoFit/>
          </a:bodyPr>
          <a:lstStyle/>
          <a:p>
            <a:pPr algn="l"/>
            <a:r>
              <a:rPr sz="1100" b="1" i="0">
                <a:solidFill>
                  <a:srgbClr val="06B6D4"/>
                </a:solidFill>
              </a:rPr>
              <a:t>React 18 + Vite</a:t>
            </a:r>
          </a:p>
        </p:txBody>
      </p:sp>
      <p:sp>
        <p:nvSpPr>
          <p:cNvPr id="30" name="TextBox 29"/>
          <p:cNvSpPr txBox="1"/>
          <p:nvPr/>
        </p:nvSpPr>
        <p:spPr>
          <a:xfrm>
            <a:off x="2240280" y="4663440"/>
            <a:ext cx="3474720" cy="502920"/>
          </a:xfrm>
          <a:prstGeom prst="rect">
            <a:avLst/>
          </a:prstGeom>
          <a:noFill/>
        </p:spPr>
        <p:txBody>
          <a:bodyPr wrap="square">
            <a:spAutoFit/>
          </a:bodyPr>
          <a:lstStyle/>
          <a:p>
            <a:pPr algn="l"/>
            <a:r>
              <a:rPr sz="1000" b="0" i="0">
                <a:solidFill>
                  <a:srgbClr val="CBD5E1"/>
                </a:solidFill>
              </a:rPr>
              <a:t>SPA with hot module reload</a:t>
            </a:r>
          </a:p>
        </p:txBody>
      </p:sp>
      <p:sp>
        <p:nvSpPr>
          <p:cNvPr id="31" name="TextBox 30"/>
          <p:cNvSpPr txBox="1"/>
          <p:nvPr/>
        </p:nvSpPr>
        <p:spPr>
          <a:xfrm>
            <a:off x="365760" y="5212080"/>
            <a:ext cx="1828800" cy="502920"/>
          </a:xfrm>
          <a:prstGeom prst="rect">
            <a:avLst/>
          </a:prstGeom>
          <a:noFill/>
        </p:spPr>
        <p:txBody>
          <a:bodyPr wrap="square">
            <a:spAutoFit/>
          </a:bodyPr>
          <a:lstStyle/>
          <a:p>
            <a:pPr algn="l"/>
            <a:r>
              <a:rPr sz="1100" b="1" i="0">
                <a:solidFill>
                  <a:srgbClr val="06B6D4"/>
                </a:solidFill>
              </a:rPr>
              <a:t>Tailwind CSS</a:t>
            </a:r>
          </a:p>
        </p:txBody>
      </p:sp>
      <p:sp>
        <p:nvSpPr>
          <p:cNvPr id="32" name="TextBox 31"/>
          <p:cNvSpPr txBox="1"/>
          <p:nvPr/>
        </p:nvSpPr>
        <p:spPr>
          <a:xfrm>
            <a:off x="2240280" y="5212080"/>
            <a:ext cx="3474720" cy="502920"/>
          </a:xfrm>
          <a:prstGeom prst="rect">
            <a:avLst/>
          </a:prstGeom>
          <a:noFill/>
        </p:spPr>
        <p:txBody>
          <a:bodyPr wrap="square">
            <a:spAutoFit/>
          </a:bodyPr>
          <a:lstStyle/>
          <a:p>
            <a:pPr algn="l"/>
            <a:r>
              <a:rPr sz="1000" b="0" i="0">
                <a:solidFill>
                  <a:srgbClr val="CBD5E1"/>
                </a:solidFill>
              </a:rPr>
              <a:t>Utility-first styling</a:t>
            </a:r>
          </a:p>
        </p:txBody>
      </p:sp>
      <p:sp>
        <p:nvSpPr>
          <p:cNvPr id="33" name="TextBox 32"/>
          <p:cNvSpPr txBox="1"/>
          <p:nvPr/>
        </p:nvSpPr>
        <p:spPr>
          <a:xfrm>
            <a:off x="365760" y="5760720"/>
            <a:ext cx="1828800" cy="502920"/>
          </a:xfrm>
          <a:prstGeom prst="rect">
            <a:avLst/>
          </a:prstGeom>
          <a:noFill/>
        </p:spPr>
        <p:txBody>
          <a:bodyPr wrap="square">
            <a:spAutoFit/>
          </a:bodyPr>
          <a:lstStyle/>
          <a:p>
            <a:pPr algn="l"/>
            <a:r>
              <a:rPr sz="1100" b="1" i="0">
                <a:solidFill>
                  <a:srgbClr val="06B6D4"/>
                </a:solidFill>
              </a:rPr>
              <a:t>Recharts</a:t>
            </a:r>
          </a:p>
        </p:txBody>
      </p:sp>
      <p:sp>
        <p:nvSpPr>
          <p:cNvPr id="34" name="TextBox 33"/>
          <p:cNvSpPr txBox="1"/>
          <p:nvPr/>
        </p:nvSpPr>
        <p:spPr>
          <a:xfrm>
            <a:off x="2240280" y="5760720"/>
            <a:ext cx="3474720" cy="502920"/>
          </a:xfrm>
          <a:prstGeom prst="rect">
            <a:avLst/>
          </a:prstGeom>
          <a:noFill/>
        </p:spPr>
        <p:txBody>
          <a:bodyPr wrap="square">
            <a:spAutoFit/>
          </a:bodyPr>
          <a:lstStyle/>
          <a:p>
            <a:pPr algn="l"/>
            <a:r>
              <a:rPr sz="1000" b="0" i="0">
                <a:solidFill>
                  <a:srgbClr val="CBD5E1"/>
                </a:solidFill>
              </a:rPr>
              <a:t>Histogram &amp; heatmap charts</a:t>
            </a:r>
          </a:p>
        </p:txBody>
      </p:sp>
      <p:sp>
        <p:nvSpPr>
          <p:cNvPr id="35" name="TextBox 34"/>
          <p:cNvSpPr txBox="1"/>
          <p:nvPr/>
        </p:nvSpPr>
        <p:spPr>
          <a:xfrm>
            <a:off x="365760" y="6309359"/>
            <a:ext cx="1828800" cy="502920"/>
          </a:xfrm>
          <a:prstGeom prst="rect">
            <a:avLst/>
          </a:prstGeom>
          <a:noFill/>
        </p:spPr>
        <p:txBody>
          <a:bodyPr wrap="square">
            <a:spAutoFit/>
          </a:bodyPr>
          <a:lstStyle/>
          <a:p>
            <a:pPr algn="l"/>
            <a:r>
              <a:rPr sz="1100" b="1" i="0">
                <a:solidFill>
                  <a:srgbClr val="06B6D4"/>
                </a:solidFill>
              </a:rPr>
              <a:t>WebSocket API</a:t>
            </a:r>
          </a:p>
        </p:txBody>
      </p:sp>
      <p:sp>
        <p:nvSpPr>
          <p:cNvPr id="36" name="TextBox 35"/>
          <p:cNvSpPr txBox="1"/>
          <p:nvPr/>
        </p:nvSpPr>
        <p:spPr>
          <a:xfrm>
            <a:off x="2240280" y="6309359"/>
            <a:ext cx="3474720" cy="502920"/>
          </a:xfrm>
          <a:prstGeom prst="rect">
            <a:avLst/>
          </a:prstGeom>
          <a:noFill/>
        </p:spPr>
        <p:txBody>
          <a:bodyPr wrap="square">
            <a:spAutoFit/>
          </a:bodyPr>
          <a:lstStyle/>
          <a:p>
            <a:pPr algn="l"/>
            <a:r>
              <a:rPr sz="1000" b="0" i="0">
                <a:solidFill>
                  <a:srgbClr val="CBD5E1"/>
                </a:solidFill>
              </a:rPr>
              <a:t>Real-time agent event stream</a:t>
            </a:r>
          </a:p>
        </p:txBody>
      </p:sp>
      <p:sp>
        <p:nvSpPr>
          <p:cNvPr id="37" name="Rectangle 36"/>
          <p:cNvSpPr/>
          <p:nvPr/>
        </p:nvSpPr>
        <p:spPr>
          <a:xfrm>
            <a:off x="6217920" y="4160520"/>
            <a:ext cx="5669280" cy="2743200"/>
          </a:xfrm>
          <a:prstGeom prst="rect">
            <a:avLst/>
          </a:prstGeom>
          <a:solidFill>
            <a:srgbClr val="161B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17920" y="4160520"/>
            <a:ext cx="56692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17920" y="4160520"/>
            <a:ext cx="5669280" cy="411480"/>
          </a:xfrm>
          <a:prstGeom prst="rect">
            <a:avLst/>
          </a:prstGeom>
          <a:noFill/>
        </p:spPr>
        <p:txBody>
          <a:bodyPr wrap="square">
            <a:spAutoFit/>
          </a:bodyPr>
          <a:lstStyle/>
          <a:p>
            <a:pPr algn="ctr"/>
            <a:r>
              <a:rPr sz="1300" b="1" i="0">
                <a:solidFill>
                  <a:srgbClr val="FFFFFF"/>
                </a:solidFill>
              </a:rPr>
              <a:t>AI / LLM</a:t>
            </a:r>
          </a:p>
        </p:txBody>
      </p:sp>
      <p:sp>
        <p:nvSpPr>
          <p:cNvPr id="40" name="TextBox 39"/>
          <p:cNvSpPr txBox="1"/>
          <p:nvPr/>
        </p:nvSpPr>
        <p:spPr>
          <a:xfrm>
            <a:off x="6355080" y="4663440"/>
            <a:ext cx="1828800" cy="502920"/>
          </a:xfrm>
          <a:prstGeom prst="rect">
            <a:avLst/>
          </a:prstGeom>
          <a:noFill/>
        </p:spPr>
        <p:txBody>
          <a:bodyPr wrap="square">
            <a:spAutoFit/>
          </a:bodyPr>
          <a:lstStyle/>
          <a:p>
            <a:pPr algn="l"/>
            <a:r>
              <a:rPr sz="1100" b="1" i="0">
                <a:solidFill>
                  <a:srgbClr val="10B981"/>
                </a:solidFill>
              </a:rPr>
              <a:t>Groq API</a:t>
            </a:r>
          </a:p>
        </p:txBody>
      </p:sp>
      <p:sp>
        <p:nvSpPr>
          <p:cNvPr id="41" name="TextBox 40"/>
          <p:cNvSpPr txBox="1"/>
          <p:nvPr/>
        </p:nvSpPr>
        <p:spPr>
          <a:xfrm>
            <a:off x="8229600" y="4663440"/>
            <a:ext cx="3474720" cy="502920"/>
          </a:xfrm>
          <a:prstGeom prst="rect">
            <a:avLst/>
          </a:prstGeom>
          <a:noFill/>
        </p:spPr>
        <p:txBody>
          <a:bodyPr wrap="square">
            <a:spAutoFit/>
          </a:bodyPr>
          <a:lstStyle/>
          <a:p>
            <a:pPr algn="l"/>
            <a:r>
              <a:rPr sz="1000" b="0" i="0">
                <a:solidFill>
                  <a:srgbClr val="CBD5E1"/>
                </a:solidFill>
              </a:rPr>
              <a:t>llama-3.3-70b — tactic generation</a:t>
            </a:r>
          </a:p>
        </p:txBody>
      </p:sp>
      <p:sp>
        <p:nvSpPr>
          <p:cNvPr id="42" name="TextBox 41"/>
          <p:cNvSpPr txBox="1"/>
          <p:nvPr/>
        </p:nvSpPr>
        <p:spPr>
          <a:xfrm>
            <a:off x="6355080" y="5212080"/>
            <a:ext cx="1828800" cy="502920"/>
          </a:xfrm>
          <a:prstGeom prst="rect">
            <a:avLst/>
          </a:prstGeom>
          <a:noFill/>
        </p:spPr>
        <p:txBody>
          <a:bodyPr wrap="square">
            <a:spAutoFit/>
          </a:bodyPr>
          <a:lstStyle/>
          <a:p>
            <a:pPr algn="l"/>
            <a:r>
              <a:rPr sz="1100" b="1" i="0">
                <a:solidFill>
                  <a:srgbClr val="10B981"/>
                </a:solidFill>
              </a:rPr>
              <a:t>Anthropic Claude</a:t>
            </a:r>
          </a:p>
        </p:txBody>
      </p:sp>
      <p:sp>
        <p:nvSpPr>
          <p:cNvPr id="43" name="TextBox 42"/>
          <p:cNvSpPr txBox="1"/>
          <p:nvPr/>
        </p:nvSpPr>
        <p:spPr>
          <a:xfrm>
            <a:off x="8229600" y="5212080"/>
            <a:ext cx="3474720" cy="502920"/>
          </a:xfrm>
          <a:prstGeom prst="rect">
            <a:avLst/>
          </a:prstGeom>
          <a:noFill/>
        </p:spPr>
        <p:txBody>
          <a:bodyPr wrap="square">
            <a:spAutoFit/>
          </a:bodyPr>
          <a:lstStyle/>
          <a:p>
            <a:pPr algn="l"/>
            <a:r>
              <a:rPr sz="1000" b="0" i="0">
                <a:solidFill>
                  <a:srgbClr val="CBD5E1"/>
                </a:solidFill>
              </a:rPr>
              <a:t>Optional: translation + proof hints</a:t>
            </a:r>
          </a:p>
        </p:txBody>
      </p:sp>
      <p:sp>
        <p:nvSpPr>
          <p:cNvPr id="44" name="TextBox 43"/>
          <p:cNvSpPr txBox="1"/>
          <p:nvPr/>
        </p:nvSpPr>
        <p:spPr>
          <a:xfrm>
            <a:off x="6355080" y="5760720"/>
            <a:ext cx="1828800" cy="502920"/>
          </a:xfrm>
          <a:prstGeom prst="rect">
            <a:avLst/>
          </a:prstGeom>
          <a:noFill/>
        </p:spPr>
        <p:txBody>
          <a:bodyPr wrap="square">
            <a:spAutoFit/>
          </a:bodyPr>
          <a:lstStyle/>
          <a:p>
            <a:pPr algn="l"/>
            <a:r>
              <a:rPr sz="1100" b="1" i="0">
                <a:solidFill>
                  <a:srgbClr val="10B981"/>
                </a:solidFill>
              </a:rPr>
              <a:t>AST analysis</a:t>
            </a:r>
          </a:p>
        </p:txBody>
      </p:sp>
      <p:sp>
        <p:nvSpPr>
          <p:cNvPr id="45" name="TextBox 44"/>
          <p:cNvSpPr txBox="1"/>
          <p:nvPr/>
        </p:nvSpPr>
        <p:spPr>
          <a:xfrm>
            <a:off x="8229600" y="5760720"/>
            <a:ext cx="3474720" cy="502920"/>
          </a:xfrm>
          <a:prstGeom prst="rect">
            <a:avLst/>
          </a:prstGeom>
          <a:noFill/>
        </p:spPr>
        <p:txBody>
          <a:bodyPr wrap="square">
            <a:spAutoFit/>
          </a:bodyPr>
          <a:lstStyle/>
          <a:p>
            <a:pPr algn="l"/>
            <a:r>
              <a:rPr sz="1000" b="0" i="0">
                <a:solidFill>
                  <a:srgbClr val="CBD5E1"/>
                </a:solidFill>
              </a:rPr>
              <a:t>Python → Lean rule-based translator</a:t>
            </a:r>
          </a:p>
        </p:txBody>
      </p:sp>
      <p:sp>
        <p:nvSpPr>
          <p:cNvPr id="46" name="TextBox 45"/>
          <p:cNvSpPr txBox="1"/>
          <p:nvPr/>
        </p:nvSpPr>
        <p:spPr>
          <a:xfrm>
            <a:off x="6355080" y="6309359"/>
            <a:ext cx="1828800" cy="502920"/>
          </a:xfrm>
          <a:prstGeom prst="rect">
            <a:avLst/>
          </a:prstGeom>
          <a:noFill/>
        </p:spPr>
        <p:txBody>
          <a:bodyPr wrap="square">
            <a:spAutoFit/>
          </a:bodyPr>
          <a:lstStyle/>
          <a:p>
            <a:pPr algn="l"/>
            <a:r>
              <a:rPr sz="1100" b="1" i="0">
                <a:solidFill>
                  <a:srgbClr val="10B981"/>
                </a:solidFill>
              </a:rPr>
              <a:t>SHA-256</a:t>
            </a:r>
          </a:p>
        </p:txBody>
      </p:sp>
      <p:sp>
        <p:nvSpPr>
          <p:cNvPr id="47" name="TextBox 46"/>
          <p:cNvSpPr txBox="1"/>
          <p:nvPr/>
        </p:nvSpPr>
        <p:spPr>
          <a:xfrm>
            <a:off x="8229600" y="6309359"/>
            <a:ext cx="3474720" cy="502920"/>
          </a:xfrm>
          <a:prstGeom prst="rect">
            <a:avLst/>
          </a:prstGeom>
          <a:noFill/>
        </p:spPr>
        <p:txBody>
          <a:bodyPr wrap="square">
            <a:spAutoFit/>
          </a:bodyPr>
          <a:lstStyle/>
          <a:p>
            <a:pPr algn="l"/>
            <a:r>
              <a:rPr sz="1000" b="0" i="0">
                <a:solidFill>
                  <a:srgbClr val="CBD5E1"/>
                </a:solidFill>
              </a:rPr>
              <a:t>Tamper-evident certificate hashing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Demo &amp; Results</a:t>
            </a:r>
          </a:p>
        </p:txBody>
      </p:sp>
      <p:sp>
        <p:nvSpPr>
          <p:cNvPr id="4" name="Rectangle 3"/>
          <p:cNvSpPr/>
          <p:nvPr/>
        </p:nvSpPr>
        <p:spPr>
          <a:xfrm>
            <a:off x="274320" y="1097280"/>
            <a:ext cx="3657600" cy="1828800"/>
          </a:xfrm>
          <a:prstGeom prst="rect">
            <a:avLst/>
          </a:prstGeom>
          <a:solidFill>
            <a:srgbClr val="161B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1280160"/>
            <a:ext cx="3657600" cy="822960"/>
          </a:xfrm>
          <a:prstGeom prst="rect">
            <a:avLst/>
          </a:prstGeom>
          <a:noFill/>
        </p:spPr>
        <p:txBody>
          <a:bodyPr wrap="square">
            <a:spAutoFit/>
          </a:bodyPr>
          <a:lstStyle/>
          <a:p>
            <a:pPr algn="ctr"/>
            <a:r>
              <a:rPr sz="3200" b="1" i="0">
                <a:solidFill>
                  <a:srgbClr val="10B981"/>
                </a:solidFill>
              </a:rPr>
              <a:t>14 / 14</a:t>
            </a:r>
          </a:p>
        </p:txBody>
      </p:sp>
      <p:sp>
        <p:nvSpPr>
          <p:cNvPr id="6" name="TextBox 5"/>
          <p:cNvSpPr txBox="1"/>
          <p:nvPr/>
        </p:nvSpPr>
        <p:spPr>
          <a:xfrm>
            <a:off x="274320" y="2011680"/>
            <a:ext cx="3657600" cy="777240"/>
          </a:xfrm>
          <a:prstGeom prst="rect">
            <a:avLst/>
          </a:prstGeom>
          <a:noFill/>
        </p:spPr>
        <p:txBody>
          <a:bodyPr wrap="square">
            <a:spAutoFit/>
          </a:bodyPr>
          <a:lstStyle/>
          <a:p>
            <a:pPr algn="ctr"/>
            <a:r>
              <a:rPr sz="1100" b="0" i="0">
                <a:solidFill>
                  <a:srgbClr val="CBD5E1"/>
                </a:solidFill>
              </a:rPr>
              <a:t>EDA operations
formally proven</a:t>
            </a:r>
          </a:p>
        </p:txBody>
      </p:sp>
      <p:sp>
        <p:nvSpPr>
          <p:cNvPr id="7" name="Rectangle 6"/>
          <p:cNvSpPr/>
          <p:nvPr/>
        </p:nvSpPr>
        <p:spPr>
          <a:xfrm>
            <a:off x="4251959" y="1097280"/>
            <a:ext cx="3657600" cy="1828800"/>
          </a:xfrm>
          <a:prstGeom prst="rect">
            <a:avLst/>
          </a:prstGeom>
          <a:solidFill>
            <a:srgbClr val="161B27"/>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51959" y="1280160"/>
            <a:ext cx="3657600" cy="822960"/>
          </a:xfrm>
          <a:prstGeom prst="rect">
            <a:avLst/>
          </a:prstGeom>
          <a:noFill/>
        </p:spPr>
        <p:txBody>
          <a:bodyPr wrap="square">
            <a:spAutoFit/>
          </a:bodyPr>
          <a:lstStyle/>
          <a:p>
            <a:pPr algn="ctr"/>
            <a:r>
              <a:rPr sz="3200" b="1" i="0">
                <a:solidFill>
                  <a:srgbClr val="3B82F6"/>
                </a:solidFill>
              </a:rPr>
              <a:t>49 tests</a:t>
            </a:r>
          </a:p>
        </p:txBody>
      </p:sp>
      <p:sp>
        <p:nvSpPr>
          <p:cNvPr id="9" name="TextBox 8"/>
          <p:cNvSpPr txBox="1"/>
          <p:nvPr/>
        </p:nvSpPr>
        <p:spPr>
          <a:xfrm>
            <a:off x="4251959" y="2011680"/>
            <a:ext cx="3657600" cy="777240"/>
          </a:xfrm>
          <a:prstGeom prst="rect">
            <a:avLst/>
          </a:prstGeom>
          <a:noFill/>
        </p:spPr>
        <p:txBody>
          <a:bodyPr wrap="square">
            <a:spAutoFit/>
          </a:bodyPr>
          <a:lstStyle/>
          <a:p>
            <a:pPr algn="ctr"/>
            <a:r>
              <a:rPr sz="1100" b="0" i="0">
                <a:solidFill>
                  <a:srgbClr val="CBD5E1"/>
                </a:solidFill>
              </a:rPr>
              <a:t>pytest suite passes
(3 Python versions × 2 OS)</a:t>
            </a:r>
          </a:p>
        </p:txBody>
      </p:sp>
      <p:sp>
        <p:nvSpPr>
          <p:cNvPr id="10" name="Rectangle 9"/>
          <p:cNvSpPr/>
          <p:nvPr/>
        </p:nvSpPr>
        <p:spPr>
          <a:xfrm>
            <a:off x="8229600" y="1097280"/>
            <a:ext cx="3657600" cy="1828800"/>
          </a:xfrm>
          <a:prstGeom prst="rect">
            <a:avLst/>
          </a:prstGeom>
          <a:solidFill>
            <a:srgbClr val="161B2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1280160"/>
            <a:ext cx="3657600" cy="822960"/>
          </a:xfrm>
          <a:prstGeom prst="rect">
            <a:avLst/>
          </a:prstGeom>
          <a:noFill/>
        </p:spPr>
        <p:txBody>
          <a:bodyPr wrap="square">
            <a:spAutoFit/>
          </a:bodyPr>
          <a:lstStyle/>
          <a:p>
            <a:pPr algn="ctr"/>
            <a:r>
              <a:rPr sz="3200" b="1" i="0">
                <a:solidFill>
                  <a:srgbClr val="06B6D4"/>
                </a:solidFill>
              </a:rPr>
              <a:t>2 500</a:t>
            </a:r>
          </a:p>
        </p:txBody>
      </p:sp>
      <p:sp>
        <p:nvSpPr>
          <p:cNvPr id="12" name="TextBox 11"/>
          <p:cNvSpPr txBox="1"/>
          <p:nvPr/>
        </p:nvSpPr>
        <p:spPr>
          <a:xfrm>
            <a:off x="8229600" y="2011680"/>
            <a:ext cx="3657600" cy="777240"/>
          </a:xfrm>
          <a:prstGeom prst="rect">
            <a:avLst/>
          </a:prstGeom>
          <a:noFill/>
        </p:spPr>
        <p:txBody>
          <a:bodyPr wrap="square">
            <a:spAutoFit/>
          </a:bodyPr>
          <a:lstStyle/>
          <a:p>
            <a:pPr algn="ctr"/>
            <a:r>
              <a:rPr sz="1100" b="0" i="0">
                <a:solidFill>
                  <a:srgbClr val="CBD5E1"/>
                </a:solidFill>
              </a:rPr>
              <a:t>Hypothesis property
checks per run</a:t>
            </a:r>
          </a:p>
        </p:txBody>
      </p:sp>
      <p:sp>
        <p:nvSpPr>
          <p:cNvPr id="13" name="Rectangle 12"/>
          <p:cNvSpPr/>
          <p:nvPr/>
        </p:nvSpPr>
        <p:spPr>
          <a:xfrm>
            <a:off x="274320" y="3200400"/>
            <a:ext cx="3657600" cy="1828800"/>
          </a:xfrm>
          <a:prstGeom prst="rect">
            <a:avLst/>
          </a:prstGeom>
          <a:solidFill>
            <a:srgbClr val="161B27"/>
          </a:solidFill>
          <a:ln w="1524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3383280"/>
            <a:ext cx="3657600" cy="822960"/>
          </a:xfrm>
          <a:prstGeom prst="rect">
            <a:avLst/>
          </a:prstGeom>
          <a:noFill/>
        </p:spPr>
        <p:txBody>
          <a:bodyPr wrap="square">
            <a:spAutoFit/>
          </a:bodyPr>
          <a:lstStyle/>
          <a:p>
            <a:pPr algn="ctr"/>
            <a:r>
              <a:rPr sz="3200" b="1" i="0">
                <a:solidFill>
                  <a:srgbClr val="A85CFF"/>
                </a:solidFill>
              </a:rPr>
              <a:t>4 agents</a:t>
            </a:r>
          </a:p>
        </p:txBody>
      </p:sp>
      <p:sp>
        <p:nvSpPr>
          <p:cNvPr id="15" name="TextBox 14"/>
          <p:cNvSpPr txBox="1"/>
          <p:nvPr/>
        </p:nvSpPr>
        <p:spPr>
          <a:xfrm>
            <a:off x="274320" y="4114800"/>
            <a:ext cx="3657600" cy="777240"/>
          </a:xfrm>
          <a:prstGeom prst="rect">
            <a:avLst/>
          </a:prstGeom>
          <a:noFill/>
        </p:spPr>
        <p:txBody>
          <a:bodyPr wrap="square">
            <a:spAutoFit/>
          </a:bodyPr>
          <a:lstStyle/>
          <a:p>
            <a:pPr algn="ctr"/>
            <a:r>
              <a:rPr sz="1100" b="0" i="0">
                <a:solidFill>
                  <a:srgbClr val="CBD5E1"/>
                </a:solidFill>
              </a:rPr>
              <a:t>Translator · Prover
Certifier · Orchestrator</a:t>
            </a:r>
          </a:p>
        </p:txBody>
      </p:sp>
      <p:sp>
        <p:nvSpPr>
          <p:cNvPr id="16" name="Rectangle 15"/>
          <p:cNvSpPr/>
          <p:nvPr/>
        </p:nvSpPr>
        <p:spPr>
          <a:xfrm>
            <a:off x="4251959" y="3200400"/>
            <a:ext cx="3657600" cy="1828800"/>
          </a:xfrm>
          <a:prstGeom prst="rect">
            <a:avLst/>
          </a:prstGeom>
          <a:solidFill>
            <a:srgbClr val="161B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51959" y="3383280"/>
            <a:ext cx="3657600" cy="822960"/>
          </a:xfrm>
          <a:prstGeom prst="rect">
            <a:avLst/>
          </a:prstGeom>
          <a:noFill/>
        </p:spPr>
        <p:txBody>
          <a:bodyPr wrap="square">
            <a:spAutoFit/>
          </a:bodyPr>
          <a:lstStyle/>
          <a:p>
            <a:pPr algn="ctr"/>
            <a:r>
              <a:rPr sz="3200" b="1" i="0">
                <a:solidFill>
                  <a:srgbClr val="F59E0B"/>
                </a:solidFill>
              </a:rPr>
              <a:t>&lt; 1 s</a:t>
            </a:r>
          </a:p>
        </p:txBody>
      </p:sp>
      <p:sp>
        <p:nvSpPr>
          <p:cNvPr id="18" name="TextBox 17"/>
          <p:cNvSpPr txBox="1"/>
          <p:nvPr/>
        </p:nvSpPr>
        <p:spPr>
          <a:xfrm>
            <a:off x="4251959" y="4114800"/>
            <a:ext cx="3657600" cy="777240"/>
          </a:xfrm>
          <a:prstGeom prst="rect">
            <a:avLst/>
          </a:prstGeom>
          <a:noFill/>
        </p:spPr>
        <p:txBody>
          <a:bodyPr wrap="square">
            <a:spAutoFit/>
          </a:bodyPr>
          <a:lstStyle/>
          <a:p>
            <a:pPr algn="ctr"/>
            <a:r>
              <a:rPr sz="1100" b="0" i="0">
                <a:solidFill>
                  <a:srgbClr val="CBD5E1"/>
                </a:solidFill>
              </a:rPr>
              <a:t>Avg verification time
per EDA operation</a:t>
            </a:r>
          </a:p>
        </p:txBody>
      </p:sp>
      <p:sp>
        <p:nvSpPr>
          <p:cNvPr id="19" name="Rectangle 18"/>
          <p:cNvSpPr/>
          <p:nvPr/>
        </p:nvSpPr>
        <p:spPr>
          <a:xfrm>
            <a:off x="8229600" y="3200400"/>
            <a:ext cx="3657600" cy="1828800"/>
          </a:xfrm>
          <a:prstGeom prst="rect">
            <a:avLst/>
          </a:prstGeom>
          <a:solidFill>
            <a:srgbClr val="161B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3383280"/>
            <a:ext cx="3657600" cy="822960"/>
          </a:xfrm>
          <a:prstGeom prst="rect">
            <a:avLst/>
          </a:prstGeom>
          <a:noFill/>
        </p:spPr>
        <p:txBody>
          <a:bodyPr wrap="square">
            <a:spAutoFit/>
          </a:bodyPr>
          <a:lstStyle/>
          <a:p>
            <a:pPr algn="ctr"/>
            <a:r>
              <a:rPr sz="3200" b="1" i="0">
                <a:solidFill>
                  <a:srgbClr val="10B981"/>
                </a:solidFill>
              </a:rPr>
              <a:t>SHA-256</a:t>
            </a:r>
          </a:p>
        </p:txBody>
      </p:sp>
      <p:sp>
        <p:nvSpPr>
          <p:cNvPr id="21" name="TextBox 20"/>
          <p:cNvSpPr txBox="1"/>
          <p:nvPr/>
        </p:nvSpPr>
        <p:spPr>
          <a:xfrm>
            <a:off x="8229600" y="4114800"/>
            <a:ext cx="3657600" cy="777240"/>
          </a:xfrm>
          <a:prstGeom prst="rect">
            <a:avLst/>
          </a:prstGeom>
          <a:noFill/>
        </p:spPr>
        <p:txBody>
          <a:bodyPr wrap="square">
            <a:spAutoFit/>
          </a:bodyPr>
          <a:lstStyle/>
          <a:p>
            <a:pPr algn="ctr"/>
            <a:r>
              <a:rPr sz="1100" b="0" i="0">
                <a:solidFill>
                  <a:srgbClr val="CBD5E1"/>
                </a:solidFill>
              </a:rPr>
              <a:t>Tamper-evident cert
per result</a:t>
            </a:r>
          </a:p>
        </p:txBody>
      </p:sp>
      <p:sp>
        <p:nvSpPr>
          <p:cNvPr id="22" name="Rectangle 21"/>
          <p:cNvSpPr/>
          <p:nvPr/>
        </p:nvSpPr>
        <p:spPr>
          <a:xfrm>
            <a:off x="274320" y="5349240"/>
            <a:ext cx="11612880" cy="1097280"/>
          </a:xfrm>
          <a:prstGeom prst="rect">
            <a:avLst/>
          </a:prstGeom>
          <a:solidFill>
            <a:srgbClr val="0B1420"/>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5394960"/>
            <a:ext cx="2743200" cy="365760"/>
          </a:xfrm>
          <a:prstGeom prst="rect">
            <a:avLst/>
          </a:prstGeom>
          <a:noFill/>
        </p:spPr>
        <p:txBody>
          <a:bodyPr wrap="square">
            <a:spAutoFit/>
          </a:bodyPr>
          <a:lstStyle/>
          <a:p>
            <a:pPr algn="l"/>
            <a:r>
              <a:rPr sz="1200" b="1" i="0">
                <a:solidFill>
                  <a:srgbClr val="3B82F6"/>
                </a:solidFill>
              </a:rPr>
              <a:t>One-command Quick Start:</a:t>
            </a:r>
          </a:p>
        </p:txBody>
      </p:sp>
      <p:sp>
        <p:nvSpPr>
          <p:cNvPr id="24" name="TextBox 23"/>
          <p:cNvSpPr txBox="1"/>
          <p:nvPr/>
        </p:nvSpPr>
        <p:spPr>
          <a:xfrm>
            <a:off x="457200" y="5760720"/>
            <a:ext cx="11247120" cy="502920"/>
          </a:xfrm>
          <a:prstGeom prst="rect">
            <a:avLst/>
          </a:prstGeom>
          <a:noFill/>
        </p:spPr>
        <p:txBody>
          <a:bodyPr wrap="square">
            <a:spAutoFit/>
          </a:bodyPr>
          <a:lstStyle/>
          <a:p>
            <a:pPr algn="l"/>
            <a:r>
              <a:rPr sz="1200" b="0" i="1">
                <a:solidFill>
                  <a:srgbClr val="06B6D4"/>
                </a:solidFill>
              </a:rPr>
              <a:t>Windows:  .\start.bat          macOS/Linux:  chmod +x start.sh &amp;&amp; ./start.sh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972800" cy="640080"/>
          </a:xfrm>
          <a:prstGeom prst="rect">
            <a:avLst/>
          </a:prstGeom>
          <a:noFill/>
        </p:spPr>
        <p:txBody>
          <a:bodyPr wrap="square">
            <a:spAutoFit/>
          </a:bodyPr>
          <a:lstStyle/>
          <a:p>
            <a:pPr algn="l"/>
            <a:r>
              <a:rPr sz="3400" b="1" i="0">
                <a:solidFill>
                  <a:srgbClr val="FFFFFF"/>
                </a:solidFill>
              </a:rPr>
              <a:t>Why This Matters</a:t>
            </a:r>
          </a:p>
        </p:txBody>
      </p:sp>
      <p:sp>
        <p:nvSpPr>
          <p:cNvPr id="4" name="Rectangle 3"/>
          <p:cNvSpPr/>
          <p:nvPr/>
        </p:nvSpPr>
        <p:spPr>
          <a:xfrm>
            <a:off x="274320" y="1097280"/>
            <a:ext cx="11612880" cy="841248"/>
          </a:xfrm>
          <a:prstGeom prst="rect">
            <a:avLst/>
          </a:prstGeom>
          <a:solidFill>
            <a:srgbClr val="161B27"/>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1097280"/>
            <a:ext cx="164592" cy="8412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133856"/>
            <a:ext cx="2743200" cy="384048"/>
          </a:xfrm>
          <a:prstGeom prst="rect">
            <a:avLst/>
          </a:prstGeom>
          <a:noFill/>
        </p:spPr>
        <p:txBody>
          <a:bodyPr wrap="square">
            <a:spAutoFit/>
          </a:bodyPr>
          <a:lstStyle/>
          <a:p>
            <a:pPr algn="l"/>
            <a:r>
              <a:rPr sz="1300" b="1" i="0">
                <a:solidFill>
                  <a:srgbClr val="10B981"/>
                </a:solidFill>
              </a:rPr>
              <a:t>Mathematical certainty</a:t>
            </a:r>
          </a:p>
        </p:txBody>
      </p:sp>
      <p:sp>
        <p:nvSpPr>
          <p:cNvPr id="7" name="TextBox 6"/>
          <p:cNvSpPr txBox="1"/>
          <p:nvPr/>
        </p:nvSpPr>
        <p:spPr>
          <a:xfrm>
            <a:off x="3337560" y="1133856"/>
            <a:ext cx="8412480" cy="749808"/>
          </a:xfrm>
          <a:prstGeom prst="rect">
            <a:avLst/>
          </a:prstGeom>
          <a:noFill/>
        </p:spPr>
        <p:txBody>
          <a:bodyPr wrap="square">
            <a:spAutoFit/>
          </a:bodyPr>
          <a:lstStyle/>
          <a:p>
            <a:pPr algn="l"/>
            <a:r>
              <a:rPr sz="1100" b="0" i="0">
                <a:solidFill>
                  <a:srgbClr val="CBD5E1"/>
                </a:solidFill>
              </a:rPr>
              <a:t>Proofs hold for ALL valid inputs — not just test cases. Variance ≥ 0 is not a unit test; it is a theorem.</a:t>
            </a:r>
          </a:p>
        </p:txBody>
      </p:sp>
      <p:sp>
        <p:nvSpPr>
          <p:cNvPr id="8" name="Rectangle 7"/>
          <p:cNvSpPr/>
          <p:nvPr/>
        </p:nvSpPr>
        <p:spPr>
          <a:xfrm>
            <a:off x="274320" y="2057400"/>
            <a:ext cx="11612880" cy="841248"/>
          </a:xfrm>
          <a:prstGeom prst="rect">
            <a:avLst/>
          </a:prstGeom>
          <a:solidFill>
            <a:srgbClr val="161B27"/>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2057400"/>
            <a:ext cx="164592" cy="84124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093976"/>
            <a:ext cx="2743200" cy="384048"/>
          </a:xfrm>
          <a:prstGeom prst="rect">
            <a:avLst/>
          </a:prstGeom>
          <a:noFill/>
        </p:spPr>
        <p:txBody>
          <a:bodyPr wrap="square">
            <a:spAutoFit/>
          </a:bodyPr>
          <a:lstStyle/>
          <a:p>
            <a:pPr algn="l"/>
            <a:r>
              <a:rPr sz="1300" b="1" i="0">
                <a:solidFill>
                  <a:srgbClr val="3B82F6"/>
                </a:solidFill>
              </a:rPr>
              <a:t>Auditable by design</a:t>
            </a:r>
          </a:p>
        </p:txBody>
      </p:sp>
      <p:sp>
        <p:nvSpPr>
          <p:cNvPr id="11" name="TextBox 10"/>
          <p:cNvSpPr txBox="1"/>
          <p:nvPr/>
        </p:nvSpPr>
        <p:spPr>
          <a:xfrm>
            <a:off x="3337560" y="2093976"/>
            <a:ext cx="8412480" cy="749808"/>
          </a:xfrm>
          <a:prstGeom prst="rect">
            <a:avLst/>
          </a:prstGeom>
          <a:noFill/>
        </p:spPr>
        <p:txBody>
          <a:bodyPr wrap="square">
            <a:spAutoFit/>
          </a:bodyPr>
          <a:lstStyle/>
          <a:p>
            <a:pPr algn="l"/>
            <a:r>
              <a:rPr sz="1100" b="0" i="0">
                <a:solidFill>
                  <a:srgbClr val="CBD5E1"/>
                </a:solidFill>
              </a:rPr>
              <a:t>Every certificate includes the dataset hash, proof hash, and theorem name. Regulators and stakeholders can verify independently.</a:t>
            </a:r>
          </a:p>
        </p:txBody>
      </p:sp>
      <p:sp>
        <p:nvSpPr>
          <p:cNvPr id="12" name="Rectangle 11"/>
          <p:cNvSpPr/>
          <p:nvPr/>
        </p:nvSpPr>
        <p:spPr>
          <a:xfrm>
            <a:off x="274320" y="3017520"/>
            <a:ext cx="11612880" cy="841248"/>
          </a:xfrm>
          <a:prstGeom prst="rect">
            <a:avLst/>
          </a:prstGeom>
          <a:solidFill>
            <a:srgbClr val="161B27"/>
          </a:solidFill>
          <a:ln w="10160">
            <a:solidFill>
              <a:srgbClr val="A8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3017520"/>
            <a:ext cx="164592" cy="841248"/>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054096"/>
            <a:ext cx="2743200" cy="384048"/>
          </a:xfrm>
          <a:prstGeom prst="rect">
            <a:avLst/>
          </a:prstGeom>
          <a:noFill/>
        </p:spPr>
        <p:txBody>
          <a:bodyPr wrap="square">
            <a:spAutoFit/>
          </a:bodyPr>
          <a:lstStyle/>
          <a:p>
            <a:pPr algn="l"/>
            <a:r>
              <a:rPr sz="1300" b="1" i="0">
                <a:solidFill>
                  <a:srgbClr val="A85CFF"/>
                </a:solidFill>
              </a:rPr>
              <a:t>Automated — no expert required</a:t>
            </a:r>
          </a:p>
        </p:txBody>
      </p:sp>
      <p:sp>
        <p:nvSpPr>
          <p:cNvPr id="15" name="TextBox 14"/>
          <p:cNvSpPr txBox="1"/>
          <p:nvPr/>
        </p:nvSpPr>
        <p:spPr>
          <a:xfrm>
            <a:off x="3337560" y="3054096"/>
            <a:ext cx="8412480" cy="749808"/>
          </a:xfrm>
          <a:prstGeom prst="rect">
            <a:avLst/>
          </a:prstGeom>
          <a:noFill/>
        </p:spPr>
        <p:txBody>
          <a:bodyPr wrap="square">
            <a:spAutoFit/>
          </a:bodyPr>
          <a:lstStyle/>
          <a:p>
            <a:pPr algn="l"/>
            <a:r>
              <a:rPr sz="1100" b="0" i="0">
                <a:solidFill>
                  <a:srgbClr val="CBD5E1"/>
                </a:solidFill>
              </a:rPr>
              <a:t>The agentic pipeline auto-translates and auto-proves. LLM fallback handles edge cases. Humans set the bar; agents maintain it.</a:t>
            </a:r>
          </a:p>
        </p:txBody>
      </p:sp>
      <p:sp>
        <p:nvSpPr>
          <p:cNvPr id="16" name="Rectangle 15"/>
          <p:cNvSpPr/>
          <p:nvPr/>
        </p:nvSpPr>
        <p:spPr>
          <a:xfrm>
            <a:off x="274320" y="3977640"/>
            <a:ext cx="11612880" cy="841248"/>
          </a:xfrm>
          <a:prstGeom prst="rect">
            <a:avLst/>
          </a:prstGeom>
          <a:solidFill>
            <a:srgbClr val="161B27"/>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3977640"/>
            <a:ext cx="164592" cy="8412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014216"/>
            <a:ext cx="2743200" cy="384048"/>
          </a:xfrm>
          <a:prstGeom prst="rect">
            <a:avLst/>
          </a:prstGeom>
          <a:noFill/>
        </p:spPr>
        <p:txBody>
          <a:bodyPr wrap="square">
            <a:spAutoFit/>
          </a:bodyPr>
          <a:lstStyle/>
          <a:p>
            <a:pPr algn="l"/>
            <a:r>
              <a:rPr sz="1300" b="1" i="0">
                <a:solidFill>
                  <a:srgbClr val="F59E0B"/>
                </a:solidFill>
              </a:rPr>
              <a:t>Composable with any data pipeline</a:t>
            </a:r>
          </a:p>
        </p:txBody>
      </p:sp>
      <p:sp>
        <p:nvSpPr>
          <p:cNvPr id="19" name="TextBox 18"/>
          <p:cNvSpPr txBox="1"/>
          <p:nvPr/>
        </p:nvSpPr>
        <p:spPr>
          <a:xfrm>
            <a:off x="3337560" y="4014216"/>
            <a:ext cx="8412480" cy="749808"/>
          </a:xfrm>
          <a:prstGeom prst="rect">
            <a:avLst/>
          </a:prstGeom>
          <a:noFill/>
        </p:spPr>
        <p:txBody>
          <a:bodyPr wrap="square">
            <a:spAutoFit/>
          </a:bodyPr>
          <a:lstStyle/>
          <a:p>
            <a:pPr algn="l"/>
            <a:r>
              <a:rPr sz="1100" b="0" i="0">
                <a:solidFill>
                  <a:srgbClr val="CBD5E1"/>
                </a:solidFill>
              </a:rPr>
              <a:t>Drop-in replacement for standard EDA. Returns VerifiedResult instead of float — backward-compatible design.</a:t>
            </a:r>
          </a:p>
        </p:txBody>
      </p:sp>
      <p:sp>
        <p:nvSpPr>
          <p:cNvPr id="20" name="Rectangle 19"/>
          <p:cNvSpPr/>
          <p:nvPr/>
        </p:nvSpPr>
        <p:spPr>
          <a:xfrm>
            <a:off x="274320" y="4937760"/>
            <a:ext cx="11612880" cy="841248"/>
          </a:xfrm>
          <a:prstGeom prst="rect">
            <a:avLst/>
          </a:prstGeom>
          <a:solidFill>
            <a:srgbClr val="161B27"/>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4937760"/>
            <a:ext cx="164592" cy="8412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4974336"/>
            <a:ext cx="2743200" cy="384048"/>
          </a:xfrm>
          <a:prstGeom prst="rect">
            <a:avLst/>
          </a:prstGeom>
          <a:noFill/>
        </p:spPr>
        <p:txBody>
          <a:bodyPr wrap="square">
            <a:spAutoFit/>
          </a:bodyPr>
          <a:lstStyle/>
          <a:p>
            <a:pPr algn="l"/>
            <a:r>
              <a:rPr sz="1300" b="1" i="0">
                <a:solidFill>
                  <a:srgbClr val="06B6D4"/>
                </a:solidFill>
              </a:rPr>
              <a:t>Living proofs</a:t>
            </a:r>
          </a:p>
        </p:txBody>
      </p:sp>
      <p:sp>
        <p:nvSpPr>
          <p:cNvPr id="23" name="TextBox 22"/>
          <p:cNvSpPr txBox="1"/>
          <p:nvPr/>
        </p:nvSpPr>
        <p:spPr>
          <a:xfrm>
            <a:off x="3337560" y="4974336"/>
            <a:ext cx="8412480" cy="749808"/>
          </a:xfrm>
          <a:prstGeom prst="rect">
            <a:avLst/>
          </a:prstGeom>
          <a:noFill/>
        </p:spPr>
        <p:txBody>
          <a:bodyPr wrap="square">
            <a:spAutoFit/>
          </a:bodyPr>
          <a:lstStyle/>
          <a:p>
            <a:pPr algn="l"/>
            <a:r>
              <a:rPr sz="1100" b="0" i="0">
                <a:solidFill>
                  <a:srgbClr val="CBD5E1"/>
                </a:solidFill>
              </a:rPr>
              <a:t>Lean proofs are type-checked on every CI run. The library cannot ship a broken proof even after a refactor.</a:t>
            </a:r>
          </a:p>
        </p:txBody>
      </p:sp>
      <p:sp>
        <p:nvSpPr>
          <p:cNvPr id="24" name="TextBox 23"/>
          <p:cNvSpPr txBox="1"/>
          <p:nvPr/>
        </p:nvSpPr>
        <p:spPr>
          <a:xfrm>
            <a:off x="0" y="6035040"/>
            <a:ext cx="12188952" cy="502920"/>
          </a:xfrm>
          <a:prstGeom prst="rect">
            <a:avLst/>
          </a:prstGeom>
          <a:noFill/>
        </p:spPr>
        <p:txBody>
          <a:bodyPr wrap="square">
            <a:spAutoFit/>
          </a:bodyPr>
          <a:lstStyle/>
          <a:p>
            <a:pPr algn="ctr"/>
            <a:r>
              <a:rPr sz="1600" b="1" i="1">
                <a:solidFill>
                  <a:srgbClr val="10B981"/>
                </a:solidFill>
              </a:rPr>
              <a:t>"Trust the proof, not the programmer."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F9F32F7C-3032-2E91-A4BC-B0F7BFB831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80652D6-AD51-9791-4932-B92EBF0A5FFD}"/>
              </a:ext>
            </a:extLst>
          </p:cNvPr>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94916C3C-6664-E3D0-C70A-EB2BD78357B4}"/>
              </a:ext>
            </a:extLst>
          </p:cNvPr>
          <p:cNvSpPr txBox="1"/>
          <p:nvPr/>
        </p:nvSpPr>
        <p:spPr>
          <a:xfrm>
            <a:off x="0" y="6035040"/>
            <a:ext cx="12188952" cy="502920"/>
          </a:xfrm>
          <a:prstGeom prst="rect">
            <a:avLst/>
          </a:prstGeom>
          <a:noFill/>
        </p:spPr>
        <p:txBody>
          <a:bodyPr wrap="square">
            <a:spAutoFit/>
          </a:bodyPr>
          <a:lstStyle/>
          <a:p>
            <a:pPr algn="ctr"/>
            <a:r>
              <a:rPr sz="1600" b="1" i="1" dirty="0">
                <a:solidFill>
                  <a:srgbClr val="10B981"/>
                </a:solidFill>
              </a:rPr>
              <a:t>"Trust the proof, not the programmer."</a:t>
            </a:r>
          </a:p>
        </p:txBody>
      </p:sp>
      <p:sp>
        <p:nvSpPr>
          <p:cNvPr id="30" name="Rectangle 29">
            <a:extLst>
              <a:ext uri="{FF2B5EF4-FFF2-40B4-BE49-F238E27FC236}">
                <a16:creationId xmlns:a16="http://schemas.microsoft.com/office/drawing/2014/main" id="{9BC6438D-5B76-F351-0899-435AF2F1921C}"/>
              </a:ext>
            </a:extLst>
          </p:cNvPr>
          <p:cNvSpPr/>
          <p:nvPr/>
        </p:nvSpPr>
        <p:spPr>
          <a:xfrm>
            <a:off x="287972" y="3075823"/>
            <a:ext cx="11612880" cy="841248"/>
          </a:xfrm>
          <a:prstGeom prst="rect">
            <a:avLst/>
          </a:prstGeom>
          <a:solidFill>
            <a:srgbClr val="161B27"/>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dirty="0"/>
              <a:t>Thank you</a:t>
            </a:r>
            <a:endParaRPr sz="4000" dirty="0"/>
          </a:p>
        </p:txBody>
      </p:sp>
    </p:spTree>
    <p:extLst>
      <p:ext uri="{BB962C8B-B14F-4D97-AF65-F5344CB8AC3E}">
        <p14:creationId xmlns:p14="http://schemas.microsoft.com/office/powerpoint/2010/main" val="3575904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1982</Words>
  <Application>Microsoft Office PowerPoint</Application>
  <PresentationFormat>Custom</PresentationFormat>
  <Paragraphs>281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Dev</cp:lastModifiedBy>
  <cp:revision>2</cp:revision>
  <dcterms:created xsi:type="dcterms:W3CDTF">2013-01-27T09:14:16Z</dcterms:created>
  <dcterms:modified xsi:type="dcterms:W3CDTF">2026-04-30T09:53:06Z</dcterms:modified>
  <cp:category/>
</cp:coreProperties>
</file>